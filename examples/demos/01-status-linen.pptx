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C1D1F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828800"/>
            <a:ext cx="74980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600"/>
              </a:spcAft>
              <a:buNone/>
              <a:defRPr lang="en-US" sz="1700" dirty="0">
                <a:solidFill>
                  <a:srgbClr val="1C1D1F"/>
                </a:solidFill>
              </a:defRPr>
            </a:lvl1pPr>
          </a:lstStyle>
          <a:p>
            <a:pPr indent="0" marL="0">
              <a:spcAft>
                <a:spcPts val="600"/>
              </a:spcAft>
              <a:buNone/>
            </a:pPr>
            <a:endParaRPr lang="en-US" sz="17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8A9099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5" name="Text 0"/>
          <p:cNvSpPr txBox="1"/>
          <p:nvPr/>
        </p:nvSpPr>
        <p:spPr>
          <a:xfrm>
            <a:off x="457200" y="475488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99"/>
                </a:solidFill>
              </a:rPr>
              <a:t>注塑模具开发周报 · 第 37 周　　示例数据，全部虚构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C1D1F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99"/>
                </a:solidFill>
              </a:rPr>
              <a:t>注塑模具开发周报 · 第 37 周　　示例数据，全部虚构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1D1F"/>
                </a:solidFill>
              </a:rPr>
              <a:t>注塑模具开发周报 · 第 37 周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82880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C1D1F"/>
                </a:solidFill>
              </a:rPr>
              <a:t>4 套在制模具中 3 套在计划内；</a:t>
            </a:r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B3261E"/>
                </a:solidFill>
              </a:rPr>
              <a:t>M-2308 延期 6 天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C1D1F"/>
                </a:solidFill>
              </a:rPr>
              <a:t>，T1 试模由 09-04 改到 09-16，需要采购部在 09-15 前确认电极外协排产。</a:t>
            </a:r>
            <a:endParaRPr lang="en-US" sz="17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099"/>
                </a:solidFill>
              </a:rPr>
              <a:t>生成  2026-09-11 14:20　　数据截止  2026-09-10 18:00　　范围  4 套在制模具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C1D1F"/>
                </a:solidFill>
              </a:rPr>
              <a:t>对象看板</a:t>
            </a:r>
            <a:endParaRPr lang="en-US" sz="2200" dirty="0"/>
          </a:p>
        </p:txBody>
      </p:sp>
      <p:sp>
        <p:nvSpPr>
          <p:cNvPr id="3" name="panel-focus"/>
          <p:cNvSpPr/>
          <p:nvPr/>
        </p:nvSpPr>
        <p:spPr>
          <a:xfrm>
            <a:off x="457200" y="1188720"/>
            <a:ext cx="1920240" cy="2240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25400">
            <a:solidFill>
              <a:srgbClr val="2F4B7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D1F"/>
                </a:solidFill>
              </a:rPr>
              <a:t>M-2308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068"/>
                </a:solidFill>
              </a:rPr>
              <a:t>前保险杠格栅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68"/>
                </a:solidFill>
              </a:rPr>
              <a:t>T1 试模</a:t>
            </a:r>
            <a:endParaRPr lang="en-US" sz="1100" dirty="0"/>
          </a:p>
        </p:txBody>
      </p:sp>
      <p:sp>
        <p:nvSpPr>
          <p:cNvPr id="7" name="tag-异常"/>
          <p:cNvSpPr txBox="1"/>
          <p:nvPr/>
        </p:nvSpPr>
        <p:spPr>
          <a:xfrm>
            <a:off x="1463040" y="1965960"/>
            <a:ext cx="566928" cy="237744"/>
          </a:xfrm>
          <a:prstGeom prst="roundRect">
            <a:avLst>
              <a:gd name="adj" fmla="val 15385"/>
            </a:avLst>
          </a:prstGeom>
          <a:noFill/>
          <a:ln w="9525">
            <a:solidFill>
              <a:srgbClr val="B3261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3261E"/>
                </a:solidFill>
              </a:rPr>
              <a:t>异常</a:t>
            </a:r>
            <a:endParaRPr lang="en-US" sz="1000" dirty="0"/>
          </a:p>
        </p:txBody>
      </p:sp>
      <p:sp>
        <p:nvSpPr>
          <p:cNvPr id="8" name="big-−6"/>
          <p:cNvSpPr txBox="1"/>
          <p:nvPr/>
        </p:nvSpPr>
        <p:spPr>
          <a:xfrm>
            <a:off x="640080" y="2286000"/>
            <a:ext cx="155448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B32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−6</a:t>
            </a:r>
            <a:pPr indent="0" marL="0">
              <a:buNone/>
            </a:pPr>
            <a:r>
              <a:rPr lang="en-US" sz="1100" dirty="0">
                <a:solidFill>
                  <a:srgbClr val="5B6068"/>
                </a:solidFill>
              </a:rPr>
              <a:t> 天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0175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099"/>
                </a:solidFill>
              </a:rPr>
              <a:t>下一节点  T1 试模 09-16</a:t>
            </a:r>
            <a:endParaRPr lang="en-US" sz="1000" dirty="0"/>
          </a:p>
        </p:txBody>
      </p:sp>
      <p:sp>
        <p:nvSpPr>
          <p:cNvPr id="10" name="panel"/>
          <p:cNvSpPr/>
          <p:nvPr/>
        </p:nvSpPr>
        <p:spPr>
          <a:xfrm>
            <a:off x="2560320" y="1188720"/>
            <a:ext cx="1920240" cy="2240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43200" y="1371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D1F"/>
                </a:solidFill>
              </a:rPr>
              <a:t>M-2319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16459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068"/>
                </a:solidFill>
              </a:rPr>
              <a:t>后视镜壳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19659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68"/>
                </a:solidFill>
              </a:rPr>
              <a:t>钢料采购</a:t>
            </a:r>
            <a:endParaRPr lang="en-US" sz="1100" dirty="0"/>
          </a:p>
        </p:txBody>
      </p:sp>
      <p:sp>
        <p:nvSpPr>
          <p:cNvPr id="14" name="tag-注意"/>
          <p:cNvSpPr txBox="1"/>
          <p:nvPr/>
        </p:nvSpPr>
        <p:spPr>
          <a:xfrm>
            <a:off x="3566160" y="1965960"/>
            <a:ext cx="566928" cy="237744"/>
          </a:xfrm>
          <a:prstGeom prst="roundRect">
            <a:avLst>
              <a:gd name="adj" fmla="val 15385"/>
            </a:avLst>
          </a:prstGeom>
          <a:noFill/>
          <a:ln w="9525">
            <a:solidFill>
              <a:srgbClr val="B77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791F"/>
                </a:solidFill>
              </a:rPr>
              <a:t>注意</a:t>
            </a:r>
            <a:endParaRPr lang="en-US" sz="1000" dirty="0"/>
          </a:p>
        </p:txBody>
      </p:sp>
      <p:sp>
        <p:nvSpPr>
          <p:cNvPr id="15" name="big-0"/>
          <p:cNvSpPr txBox="1"/>
          <p:nvPr/>
        </p:nvSpPr>
        <p:spPr>
          <a:xfrm>
            <a:off x="2743200" y="2286000"/>
            <a:ext cx="155448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C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5B6068"/>
                </a:solidFill>
              </a:rPr>
              <a:t> 天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2743200" y="30175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099"/>
                </a:solidFill>
              </a:rPr>
              <a:t>下一节点  钢料到货 09-14</a:t>
            </a:r>
            <a:endParaRPr lang="en-US" sz="1000" dirty="0"/>
          </a:p>
        </p:txBody>
      </p:sp>
      <p:sp>
        <p:nvSpPr>
          <p:cNvPr id="17" name="panel"/>
          <p:cNvSpPr/>
          <p:nvPr/>
        </p:nvSpPr>
        <p:spPr>
          <a:xfrm>
            <a:off x="4663440" y="1188720"/>
            <a:ext cx="1920240" cy="2240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1371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D1F"/>
                </a:solidFill>
              </a:rPr>
              <a:t>M-2311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16459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068"/>
                </a:solidFill>
              </a:rPr>
              <a:t>仪表板骨架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19659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68"/>
                </a:solidFill>
              </a:rPr>
              <a:t>型腔加工</a:t>
            </a:r>
            <a:endParaRPr lang="en-US" sz="1100" dirty="0"/>
          </a:p>
        </p:txBody>
      </p:sp>
      <p:sp>
        <p:nvSpPr>
          <p:cNvPr id="21" name="tag-正常"/>
          <p:cNvSpPr txBox="1"/>
          <p:nvPr/>
        </p:nvSpPr>
        <p:spPr>
          <a:xfrm>
            <a:off x="5669280" y="1965960"/>
            <a:ext cx="566928" cy="237744"/>
          </a:xfrm>
          <a:prstGeom prst="roundRect">
            <a:avLst>
              <a:gd name="adj" fmla="val 15385"/>
            </a:avLst>
          </a:prstGeom>
          <a:noFill/>
          <a:ln w="9525">
            <a:solidFill>
              <a:srgbClr val="2E7D5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5B"/>
                </a:solidFill>
              </a:rPr>
              <a:t>正常</a:t>
            </a:r>
            <a:endParaRPr lang="en-US" sz="1000" dirty="0"/>
          </a:p>
        </p:txBody>
      </p:sp>
      <p:sp>
        <p:nvSpPr>
          <p:cNvPr id="22" name="big-0"/>
          <p:cNvSpPr txBox="1"/>
          <p:nvPr/>
        </p:nvSpPr>
        <p:spPr>
          <a:xfrm>
            <a:off x="4846320" y="2286000"/>
            <a:ext cx="155448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C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5B6068"/>
                </a:solidFill>
              </a:rPr>
              <a:t> 天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0175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099"/>
                </a:solidFill>
              </a:rPr>
              <a:t>下一节点  T0 试模 09-24</a:t>
            </a:r>
            <a:endParaRPr lang="en-US" sz="1000" dirty="0"/>
          </a:p>
        </p:txBody>
      </p:sp>
      <p:sp>
        <p:nvSpPr>
          <p:cNvPr id="24" name="panel"/>
          <p:cNvSpPr/>
          <p:nvPr/>
        </p:nvSpPr>
        <p:spPr>
          <a:xfrm>
            <a:off x="6766560" y="1188720"/>
            <a:ext cx="1920240" cy="2240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49440" y="1371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D1F"/>
                </a:solidFill>
              </a:rPr>
              <a:t>M-2315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16459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068"/>
                </a:solidFill>
              </a:rPr>
              <a:t>门内饰板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19659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68"/>
                </a:solidFill>
              </a:rPr>
              <a:t>设计评审</a:t>
            </a:r>
            <a:endParaRPr lang="en-US" sz="1100" dirty="0"/>
          </a:p>
        </p:txBody>
      </p:sp>
      <p:sp>
        <p:nvSpPr>
          <p:cNvPr id="28" name="tag-正常"/>
          <p:cNvSpPr txBox="1"/>
          <p:nvPr/>
        </p:nvSpPr>
        <p:spPr>
          <a:xfrm>
            <a:off x="7772400" y="1965960"/>
            <a:ext cx="566928" cy="237744"/>
          </a:xfrm>
          <a:prstGeom prst="roundRect">
            <a:avLst>
              <a:gd name="adj" fmla="val 15385"/>
            </a:avLst>
          </a:prstGeom>
          <a:noFill/>
          <a:ln w="9525">
            <a:solidFill>
              <a:srgbClr val="2E7D5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5B"/>
                </a:solidFill>
              </a:rPr>
              <a:t>正常</a:t>
            </a:r>
            <a:endParaRPr lang="en-US" sz="1000" dirty="0"/>
          </a:p>
        </p:txBody>
      </p:sp>
      <p:sp>
        <p:nvSpPr>
          <p:cNvPr id="29" name="big-+2"/>
          <p:cNvSpPr txBox="1"/>
          <p:nvPr/>
        </p:nvSpPr>
        <p:spPr>
          <a:xfrm>
            <a:off x="6949440" y="2286000"/>
            <a:ext cx="155448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2E7D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</a:t>
            </a:r>
            <a:pPr indent="0" marL="0">
              <a:buNone/>
            </a:pPr>
            <a:r>
              <a:rPr lang="en-US" sz="1100" dirty="0">
                <a:solidFill>
                  <a:srgbClr val="5B6068"/>
                </a:solidFill>
              </a:rPr>
              <a:t> 天</a:t>
            </a:r>
            <a:endParaRPr lang="en-US" sz="3000" dirty="0"/>
          </a:p>
        </p:txBody>
      </p:sp>
      <p:sp>
        <p:nvSpPr>
          <p:cNvPr id="30" name="Text 28"/>
          <p:cNvSpPr txBox="1"/>
          <p:nvPr/>
        </p:nvSpPr>
        <p:spPr>
          <a:xfrm>
            <a:off x="6949440" y="30175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099"/>
                </a:solidFill>
              </a:rPr>
              <a:t>下一节点  设计冻结 09-18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099"/>
                </a:solidFill>
              </a:rPr>
              <a:t>偏差为相对计划的天数，负数为延期。正常项只占一格，版面留给异常项。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C1D1F"/>
                </a:solidFill>
              </a:rPr>
              <a:t>时间线</a:t>
            </a:r>
            <a:endParaRPr lang="en-US" sz="2200" dirty="0"/>
          </a:p>
        </p:txBody>
      </p:sp>
      <p:sp>
        <p:nvSpPr>
          <p:cNvPr id="3" name="grid"/>
          <p:cNvSpPr/>
          <p:nvPr/>
        </p:nvSpPr>
        <p:spPr>
          <a:xfrm>
            <a:off x="1463040" y="1508760"/>
            <a:ext cx="0" cy="2834640"/>
          </a:xfrm>
          <a:prstGeom prst="line">
            <a:avLst/>
          </a:prstGeom>
          <a:noFill/>
          <a:ln w="9525">
            <a:solidFill>
              <a:srgbClr val="E3E5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" y="12344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08-24</a:t>
            </a:r>
            <a:endParaRPr lang="en-US" sz="900" dirty="0"/>
          </a:p>
        </p:txBody>
      </p:sp>
      <p:sp>
        <p:nvSpPr>
          <p:cNvPr id="5" name="grid"/>
          <p:cNvSpPr/>
          <p:nvPr/>
        </p:nvSpPr>
        <p:spPr>
          <a:xfrm>
            <a:off x="2624115" y="1508760"/>
            <a:ext cx="0" cy="2834640"/>
          </a:xfrm>
          <a:prstGeom prst="line">
            <a:avLst/>
          </a:prstGeom>
          <a:noFill/>
          <a:ln w="9525">
            <a:solidFill>
              <a:srgbClr val="E3E5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58355" y="12344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08-31</a:t>
            </a:r>
            <a:endParaRPr lang="en-US" sz="900" dirty="0"/>
          </a:p>
        </p:txBody>
      </p:sp>
      <p:sp>
        <p:nvSpPr>
          <p:cNvPr id="7" name="grid"/>
          <p:cNvSpPr/>
          <p:nvPr/>
        </p:nvSpPr>
        <p:spPr>
          <a:xfrm>
            <a:off x="3785191" y="1508760"/>
            <a:ext cx="0" cy="2834640"/>
          </a:xfrm>
          <a:prstGeom prst="line">
            <a:avLst/>
          </a:prstGeom>
          <a:noFill/>
          <a:ln w="9525">
            <a:solidFill>
              <a:srgbClr val="E3E5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19431" y="12344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09-07</a:t>
            </a:r>
            <a:endParaRPr lang="en-US" sz="900" dirty="0"/>
          </a:p>
        </p:txBody>
      </p:sp>
      <p:sp>
        <p:nvSpPr>
          <p:cNvPr id="9" name="grid"/>
          <p:cNvSpPr/>
          <p:nvPr/>
        </p:nvSpPr>
        <p:spPr>
          <a:xfrm>
            <a:off x="4946266" y="1508760"/>
            <a:ext cx="0" cy="2834640"/>
          </a:xfrm>
          <a:prstGeom prst="line">
            <a:avLst/>
          </a:prstGeom>
          <a:noFill/>
          <a:ln w="9525">
            <a:solidFill>
              <a:srgbClr val="E3E5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80506" y="12344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09-14</a:t>
            </a:r>
            <a:endParaRPr lang="en-US" sz="900" dirty="0"/>
          </a:p>
        </p:txBody>
      </p:sp>
      <p:sp>
        <p:nvSpPr>
          <p:cNvPr id="11" name="grid"/>
          <p:cNvSpPr/>
          <p:nvPr/>
        </p:nvSpPr>
        <p:spPr>
          <a:xfrm>
            <a:off x="6107341" y="1508760"/>
            <a:ext cx="0" cy="2834640"/>
          </a:xfrm>
          <a:prstGeom prst="line">
            <a:avLst/>
          </a:prstGeom>
          <a:noFill/>
          <a:ln w="9525">
            <a:solidFill>
              <a:srgbClr val="E3E5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41581" y="12344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09-21</a:t>
            </a:r>
            <a:endParaRPr lang="en-US" sz="900" dirty="0"/>
          </a:p>
        </p:txBody>
      </p:sp>
      <p:sp>
        <p:nvSpPr>
          <p:cNvPr id="13" name="grid"/>
          <p:cNvSpPr/>
          <p:nvPr/>
        </p:nvSpPr>
        <p:spPr>
          <a:xfrm>
            <a:off x="7268417" y="1508760"/>
            <a:ext cx="0" cy="2834640"/>
          </a:xfrm>
          <a:prstGeom prst="line">
            <a:avLst/>
          </a:prstGeom>
          <a:noFill/>
          <a:ln w="9525">
            <a:solidFill>
              <a:srgbClr val="E3E5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02657" y="12344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09-28</a:t>
            </a:r>
            <a:endParaRPr lang="en-US" sz="900" dirty="0"/>
          </a:p>
        </p:txBody>
      </p:sp>
      <p:sp>
        <p:nvSpPr>
          <p:cNvPr id="15" name="grid"/>
          <p:cNvSpPr/>
          <p:nvPr/>
        </p:nvSpPr>
        <p:spPr>
          <a:xfrm>
            <a:off x="8595360" y="1508760"/>
            <a:ext cx="0" cy="2834640"/>
          </a:xfrm>
          <a:prstGeom prst="line">
            <a:avLst/>
          </a:prstGeom>
          <a:noFill/>
          <a:ln w="9525">
            <a:solidFill>
              <a:srgbClr val="E3E5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0" y="12344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10-05</a:t>
            </a:r>
            <a:endParaRPr lang="en-US" sz="900" dirty="0"/>
          </a:p>
        </p:txBody>
      </p:sp>
      <p:sp>
        <p:nvSpPr>
          <p:cNvPr id="17" name="today"/>
          <p:cNvSpPr/>
          <p:nvPr/>
        </p:nvSpPr>
        <p:spPr>
          <a:xfrm>
            <a:off x="4282794" y="1463040"/>
            <a:ext cx="0" cy="2926080"/>
          </a:xfrm>
          <a:prstGeom prst="line">
            <a:avLst/>
          </a:prstGeom>
          <a:noFill/>
          <a:ln w="19050">
            <a:solidFill>
              <a:srgbClr val="2F4B7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37658" y="14904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F4B7C"/>
                </a:solidFill>
              </a:rPr>
              <a:t>今天 09-10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19933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1D1F"/>
                </a:solidFill>
              </a:rPr>
              <a:t>M-2308</a:t>
            </a:r>
            <a:endParaRPr lang="en-US" sz="1100" dirty="0"/>
          </a:p>
        </p:txBody>
      </p:sp>
      <p:sp>
        <p:nvSpPr>
          <p:cNvPr id="20" name="seg"/>
          <p:cNvSpPr/>
          <p:nvPr/>
        </p:nvSpPr>
        <p:spPr>
          <a:xfrm>
            <a:off x="1463040" y="2103120"/>
            <a:ext cx="1824547" cy="0"/>
          </a:xfrm>
          <a:prstGeom prst="line">
            <a:avLst/>
          </a:prstGeom>
          <a:noFill/>
          <a:ln w="63500">
            <a:solidFill>
              <a:srgbClr val="B3261E"/>
            </a:solidFill>
            <a:prstDash val="solid"/>
            <a:tailEnd type="none"/>
          </a:ln>
        </p:spPr>
      </p:sp>
      <p:sp>
        <p:nvSpPr>
          <p:cNvPr id="21" name="seg"/>
          <p:cNvSpPr/>
          <p:nvPr/>
        </p:nvSpPr>
        <p:spPr>
          <a:xfrm>
            <a:off x="3287587" y="2103120"/>
            <a:ext cx="995207" cy="0"/>
          </a:xfrm>
          <a:prstGeom prst="line">
            <a:avLst/>
          </a:prstGeom>
          <a:noFill/>
          <a:ln w="63500">
            <a:solidFill>
              <a:srgbClr val="B3261E"/>
            </a:solidFill>
            <a:prstDash val="sysDot"/>
            <a:tailEnd type="none"/>
          </a:ln>
        </p:spPr>
      </p:sp>
      <p:sp>
        <p:nvSpPr>
          <p:cNvPr id="22" name="seg"/>
          <p:cNvSpPr/>
          <p:nvPr/>
        </p:nvSpPr>
        <p:spPr>
          <a:xfrm>
            <a:off x="4282794" y="2103120"/>
            <a:ext cx="995207" cy="0"/>
          </a:xfrm>
          <a:prstGeom prst="line">
            <a:avLst/>
          </a:prstGeom>
          <a:noFill/>
          <a:ln w="63500">
            <a:solidFill>
              <a:srgbClr val="E3E5E8"/>
            </a:solidFill>
            <a:prstDash val="solid"/>
            <a:tailEnd type="none"/>
          </a:ln>
        </p:spPr>
      </p:sp>
      <p:sp>
        <p:nvSpPr>
          <p:cNvPr id="23" name="node-late"/>
          <p:cNvSpPr/>
          <p:nvPr/>
        </p:nvSpPr>
        <p:spPr>
          <a:xfrm>
            <a:off x="3223579" y="2039112"/>
            <a:ext cx="128016" cy="128016"/>
          </a:xfrm>
          <a:prstGeom prst="ellipse">
            <a:avLst/>
          </a:prstGeom>
          <a:solidFill>
            <a:srgbClr val="FCFCFB"/>
          </a:solidFill>
          <a:ln w="22225">
            <a:solidFill>
              <a:srgbClr val="B3261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190307" y="21945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3261E"/>
                </a:solidFill>
              </a:rPr>
              <a:t>计划 T1 09-04 已逾期</a:t>
            </a:r>
            <a:endParaRPr lang="en-US" sz="900" dirty="0"/>
          </a:p>
        </p:txBody>
      </p:sp>
      <p:sp>
        <p:nvSpPr>
          <p:cNvPr id="25" name="node"/>
          <p:cNvSpPr/>
          <p:nvPr/>
        </p:nvSpPr>
        <p:spPr>
          <a:xfrm>
            <a:off x="5213994" y="2039112"/>
            <a:ext cx="128016" cy="128016"/>
          </a:xfrm>
          <a:prstGeom prst="ellipse">
            <a:avLst/>
          </a:prstGeom>
          <a:solidFill>
            <a:srgbClr val="FCFCFB"/>
          </a:solidFill>
          <a:ln w="22225">
            <a:solidFill>
              <a:srgbClr val="B3261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387730" y="20025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068"/>
                </a:solidFill>
              </a:rPr>
              <a:t>新 T1 09-16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27249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1D1F"/>
                </a:solidFill>
              </a:rPr>
              <a:t>M-2319</a:t>
            </a:r>
            <a:endParaRPr lang="en-US" sz="1100" dirty="0"/>
          </a:p>
        </p:txBody>
      </p:sp>
      <p:sp>
        <p:nvSpPr>
          <p:cNvPr id="28" name="seg"/>
          <p:cNvSpPr/>
          <p:nvPr/>
        </p:nvSpPr>
        <p:spPr>
          <a:xfrm>
            <a:off x="1463040" y="2834640"/>
            <a:ext cx="2819754" cy="0"/>
          </a:xfrm>
          <a:prstGeom prst="line">
            <a:avLst/>
          </a:prstGeom>
          <a:noFill/>
          <a:ln w="63500">
            <a:solidFill>
              <a:srgbClr val="B7791F"/>
            </a:solidFill>
            <a:prstDash val="solid"/>
            <a:tailEnd type="none"/>
          </a:ln>
        </p:spPr>
      </p:sp>
      <p:sp>
        <p:nvSpPr>
          <p:cNvPr id="29" name="seg"/>
          <p:cNvSpPr/>
          <p:nvPr/>
        </p:nvSpPr>
        <p:spPr>
          <a:xfrm>
            <a:off x="4282794" y="2834640"/>
            <a:ext cx="663472" cy="0"/>
          </a:xfrm>
          <a:prstGeom prst="line">
            <a:avLst/>
          </a:prstGeom>
          <a:noFill/>
          <a:ln w="63500">
            <a:solidFill>
              <a:srgbClr val="E3E5E8"/>
            </a:solidFill>
            <a:prstDash val="solid"/>
            <a:tailEnd type="none"/>
          </a:ln>
        </p:spPr>
      </p:sp>
      <p:sp>
        <p:nvSpPr>
          <p:cNvPr id="30" name="node"/>
          <p:cNvSpPr/>
          <p:nvPr/>
        </p:nvSpPr>
        <p:spPr>
          <a:xfrm>
            <a:off x="4882258" y="2770632"/>
            <a:ext cx="128016" cy="128016"/>
          </a:xfrm>
          <a:prstGeom prst="ellipse">
            <a:avLst/>
          </a:prstGeom>
          <a:solidFill>
            <a:srgbClr val="FCFCFB"/>
          </a:solidFill>
          <a:ln w="22225">
            <a:solidFill>
              <a:srgbClr val="B779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055994" y="27340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068"/>
                </a:solidFill>
              </a:rPr>
              <a:t>钢料到货 09-14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33649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1D1F"/>
                </a:solidFill>
              </a:rPr>
              <a:t>M-2311</a:t>
            </a:r>
            <a:endParaRPr lang="en-US" sz="1100" dirty="0"/>
          </a:p>
        </p:txBody>
      </p:sp>
      <p:sp>
        <p:nvSpPr>
          <p:cNvPr id="33" name="seg"/>
          <p:cNvSpPr/>
          <p:nvPr/>
        </p:nvSpPr>
        <p:spPr>
          <a:xfrm>
            <a:off x="1463040" y="3474720"/>
            <a:ext cx="2819754" cy="0"/>
          </a:xfrm>
          <a:prstGeom prst="line">
            <a:avLst/>
          </a:prstGeom>
          <a:noFill/>
          <a:ln w="63500">
            <a:solidFill>
              <a:srgbClr val="2E7D5B"/>
            </a:solidFill>
            <a:prstDash val="solid"/>
            <a:tailEnd type="none"/>
          </a:ln>
        </p:spPr>
      </p:sp>
      <p:sp>
        <p:nvSpPr>
          <p:cNvPr id="34" name="seg"/>
          <p:cNvSpPr/>
          <p:nvPr/>
        </p:nvSpPr>
        <p:spPr>
          <a:xfrm>
            <a:off x="4282794" y="3474720"/>
            <a:ext cx="2322151" cy="0"/>
          </a:xfrm>
          <a:prstGeom prst="line">
            <a:avLst/>
          </a:prstGeom>
          <a:noFill/>
          <a:ln w="63500">
            <a:solidFill>
              <a:srgbClr val="E3E5E8"/>
            </a:solidFill>
            <a:prstDash val="solid"/>
            <a:tailEnd type="none"/>
          </a:ln>
        </p:spPr>
      </p:sp>
      <p:sp>
        <p:nvSpPr>
          <p:cNvPr id="35" name="node"/>
          <p:cNvSpPr/>
          <p:nvPr/>
        </p:nvSpPr>
        <p:spPr>
          <a:xfrm>
            <a:off x="6540937" y="3410712"/>
            <a:ext cx="128016" cy="128016"/>
          </a:xfrm>
          <a:prstGeom prst="ellipse">
            <a:avLst/>
          </a:prstGeom>
          <a:solidFill>
            <a:srgbClr val="FCFCFB"/>
          </a:solidFill>
          <a:ln w="22225">
            <a:solidFill>
              <a:srgbClr val="2E7D5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714673" y="33741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068"/>
                </a:solidFill>
              </a:rPr>
              <a:t>T0 试模 09-24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4005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1D1F"/>
                </a:solidFill>
              </a:rPr>
              <a:t>M-2315</a:t>
            </a:r>
            <a:endParaRPr lang="en-US" sz="1100" dirty="0"/>
          </a:p>
        </p:txBody>
      </p:sp>
      <p:sp>
        <p:nvSpPr>
          <p:cNvPr id="38" name="seg"/>
          <p:cNvSpPr/>
          <p:nvPr/>
        </p:nvSpPr>
        <p:spPr>
          <a:xfrm>
            <a:off x="1463040" y="4114800"/>
            <a:ext cx="2819754" cy="0"/>
          </a:xfrm>
          <a:prstGeom prst="line">
            <a:avLst/>
          </a:prstGeom>
          <a:noFill/>
          <a:ln w="63500">
            <a:solidFill>
              <a:srgbClr val="2E7D5B"/>
            </a:solidFill>
            <a:prstDash val="solid"/>
            <a:tailEnd type="none"/>
          </a:ln>
        </p:spPr>
      </p:sp>
      <p:sp>
        <p:nvSpPr>
          <p:cNvPr id="39" name="seg"/>
          <p:cNvSpPr/>
          <p:nvPr/>
        </p:nvSpPr>
        <p:spPr>
          <a:xfrm>
            <a:off x="4282794" y="4114800"/>
            <a:ext cx="1326943" cy="0"/>
          </a:xfrm>
          <a:prstGeom prst="line">
            <a:avLst/>
          </a:prstGeom>
          <a:noFill/>
          <a:ln w="63500">
            <a:solidFill>
              <a:srgbClr val="E3E5E8"/>
            </a:solidFill>
            <a:prstDash val="solid"/>
            <a:tailEnd type="none"/>
          </a:ln>
        </p:spPr>
      </p:sp>
      <p:sp>
        <p:nvSpPr>
          <p:cNvPr id="40" name="node"/>
          <p:cNvSpPr/>
          <p:nvPr/>
        </p:nvSpPr>
        <p:spPr>
          <a:xfrm>
            <a:off x="5545730" y="4050792"/>
            <a:ext cx="128016" cy="128016"/>
          </a:xfrm>
          <a:prstGeom prst="ellipse">
            <a:avLst/>
          </a:prstGeom>
          <a:solidFill>
            <a:srgbClr val="FCFCFB"/>
          </a:solidFill>
          <a:ln w="22225">
            <a:solidFill>
              <a:srgbClr val="2E7D5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719466" y="40142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068"/>
                </a:solidFill>
              </a:rPr>
              <a:t>设计冻结 09-18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099"/>
                </a:solidFill>
              </a:rPr>
              <a:t>实线为已完成，浅灰为计划中，红色虚线为逾期拖到今天的部分。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C1D1F"/>
                </a:solidFill>
              </a:rPr>
              <a:t>异常明细</a:t>
            </a:r>
            <a:endParaRPr lang="en-US" sz="2200" dirty="0"/>
          </a:p>
        </p:txBody>
      </p:sp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914400"/>
                <a:gridCol w="2743200"/>
                <a:gridCol w="914400"/>
                <a:gridCol w="2103120"/>
                <a:gridCol w="731520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B60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B60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B60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5B60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新日期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B60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待谁处理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5B60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期限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C1D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M-2308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B326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延期 6 天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1D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电极外协厂 09-01 起优先其他客户订单，我方电极排产从 09-02 推到 09-12，型腔 EDM 停工 6 天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C1D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T1 09-16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1D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采购部确认外协排产；确认不了则模具车间自制电极（+4 天）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C1D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09-15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C1D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M-2319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B779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1D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钢料到货日 09-14，截至 09-10 供应商尚未发出发货通知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C1D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1D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采购部跟催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C1D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09-11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383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099"/>
                </a:solidFill>
              </a:rPr>
              <a:t>正常项不进这张表。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C1D1F"/>
                </a:solidFill>
              </a:rPr>
              <a:t>本期变化（与第 36 周比）</a:t>
            </a:r>
            <a:endParaRPr lang="en-US" sz="22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011680"/>
                <a:gridCol w="1463040"/>
                <a:gridCol w="1463040"/>
                <a:gridCol w="23774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B60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B60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B60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B60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B60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变化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1D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M-2308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1D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T1 试模日期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1D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09-04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1D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09-16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B326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推迟 12 天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1D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M-2311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1D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型腔加工完成率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1D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40%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1D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65%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1D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+25 个百分点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1D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M-2315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1D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设计评审完成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1D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计划 09-12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1D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实际 09-10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E7D5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提前 2 天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1D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M-2319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1D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钢料采购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1D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待到货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1D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待到货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1D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无变化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a-linen">
  <a:themeElements>
    <a:clrScheme name="diva-linen">
      <a:dk1>
        <a:srgbClr val="1C1D1F"/>
      </a:dk1>
      <a:lt1>
        <a:srgbClr val="FCFCFB"/>
      </a:lt1>
      <a:dk2>
        <a:srgbClr val="5B6068"/>
      </a:dk2>
      <a:lt2>
        <a:srgbClr val="FFFFFF"/>
      </a:lt2>
      <a:accent1>
        <a:srgbClr val="2F4B7C"/>
      </a:accent1>
      <a:accent2>
        <a:srgbClr val="2E7D5B"/>
      </a:accent2>
      <a:accent3>
        <a:srgbClr val="B7791F"/>
      </a:accent3>
      <a:accent4>
        <a:srgbClr val="B3261E"/>
      </a:accent4>
      <a:accent5>
        <a:srgbClr val="8A9099"/>
      </a:accent5>
      <a:accent6>
        <a:srgbClr val="E3E5E8"/>
      </a:accent6>
      <a:hlink>
        <a:srgbClr val="2F4B7C"/>
      </a:hlink>
      <a:folHlink>
        <a:srgbClr val="5B6068"/>
      </a:folHlink>
    </a:clrScheme>
    <a:fontScheme name="diva-linen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注塑模具开发周报 · 第 37 周</dc:title>
  <dc:subject>PptxGenJS Presentation</dc:subject>
  <dc:creator>diva-report-skill 示例</dc:creator>
  <cp:lastModifiedBy>diva-report-skill 示例</cp:lastModifiedBy>
  <cp:revision>1</cp:revision>
  <dcterms:created xsi:type="dcterms:W3CDTF">2026-10-08T08:32:00Z</dcterms:created>
  <dcterms:modified xsi:type="dcterms:W3CDTF">2026-10-08T08:32:00Z</dcterms:modified>
</cp:coreProperties>
</file>