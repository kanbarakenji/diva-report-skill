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C1D1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700" dirty="0">
                <a:solidFill>
                  <a:srgbClr val="1C1D1F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8A9099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</a:rPr>
              <a:t>注塑模具开发周报 · 第 37 周　　示例数据，全部虚构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C1D1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99"/>
                </a:solidFill>
              </a:rPr>
              <a:t>注塑模具开发周报 · 第 37 周　　示例数据，全部虚构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1D1F"/>
                </a:solidFill>
              </a:rPr>
              <a:t>注塑模具开发周报 · 第 37 周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D1F"/>
                </a:solidFill>
              </a:rPr>
              <a:t>4 套在制模具中 3 套在计划内；</a:t>
            </a:r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</a:rPr>
              <a:t>M-2308 延期 6 天</a:t>
            </a:r>
            <a:pPr indent="0" marL="0">
              <a:buNone/>
            </a:pPr>
            <a:r>
              <a:rPr lang="en-US" sz="1100" dirty="0">
                <a:solidFill>
                  <a:srgbClr val="1C1D1F"/>
                </a:solidFill>
              </a:rPr>
              <a:t>，T1 试模由 09-04 改到 09-16，需要采购部在 09-15 前确认电极外协排产。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44168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099"/>
                </a:solidFill>
              </a:rPr>
              <a:t>生成 2026-09-11 14:20　数据截止 2026-09-10 18:00　范围 4 套在制模具</a:t>
            </a:r>
            <a:endParaRPr lang="en-US" sz="800" dirty="0"/>
          </a:p>
        </p:txBody>
      </p:sp>
      <p:sp>
        <p:nvSpPr>
          <p:cNvPr id="5" name="head-rule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15875">
            <a:solidFill>
              <a:srgbClr val="1C1D1F"/>
            </a:solidFill>
            <a:prstDash val="solid"/>
          </a:ln>
        </p:spPr>
      </p:sp>
      <p:sp>
        <p:nvSpPr>
          <p:cNvPr id="6" name="panel-focus"/>
          <p:cNvSpPr/>
          <p:nvPr/>
        </p:nvSpPr>
        <p:spPr>
          <a:xfrm>
            <a:off x="457200" y="1719072"/>
            <a:ext cx="13716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25400">
            <a:solidFill>
              <a:srgbClr val="2F4B7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81051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1D1F"/>
                </a:solidFill>
              </a:rPr>
              <a:t>M-2308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01168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068"/>
                </a:solidFill>
              </a:rPr>
              <a:t>T1 试模</a:t>
            </a:r>
            <a:endParaRPr lang="en-US" sz="800" dirty="0"/>
          </a:p>
        </p:txBody>
      </p:sp>
      <p:sp>
        <p:nvSpPr>
          <p:cNvPr id="9" name="big-−6"/>
          <p:cNvSpPr txBox="1"/>
          <p:nvPr/>
        </p:nvSpPr>
        <p:spPr>
          <a:xfrm>
            <a:off x="566928" y="20848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−6</a:t>
            </a:r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 天</a:t>
            </a:r>
            <a:endParaRPr lang="en-US" sz="1800" dirty="0"/>
          </a:p>
        </p:txBody>
      </p:sp>
      <p:sp>
        <p:nvSpPr>
          <p:cNvPr id="10" name="tag-异常"/>
          <p:cNvSpPr txBox="1"/>
          <p:nvPr/>
        </p:nvSpPr>
        <p:spPr>
          <a:xfrm>
            <a:off x="1280160" y="2176272"/>
            <a:ext cx="438912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261E"/>
                </a:solidFill>
              </a:rPr>
              <a:t>异常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54203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A9099"/>
                </a:solidFill>
              </a:rPr>
              <a:t>T1 试模 09-16</a:t>
            </a:r>
            <a:endParaRPr lang="en-US" sz="700" dirty="0"/>
          </a:p>
        </p:txBody>
      </p:sp>
      <p:sp>
        <p:nvSpPr>
          <p:cNvPr id="12" name="panel"/>
          <p:cNvSpPr/>
          <p:nvPr/>
        </p:nvSpPr>
        <p:spPr>
          <a:xfrm>
            <a:off x="1920240" y="1719072"/>
            <a:ext cx="13716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29968" y="181051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1D1F"/>
                </a:solidFill>
              </a:rPr>
              <a:t>M-2319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029968" y="201168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068"/>
                </a:solidFill>
              </a:rPr>
              <a:t>钢料采购</a:t>
            </a:r>
            <a:endParaRPr lang="en-US" sz="800" dirty="0"/>
          </a:p>
        </p:txBody>
      </p:sp>
      <p:sp>
        <p:nvSpPr>
          <p:cNvPr id="15" name="big-0"/>
          <p:cNvSpPr txBox="1"/>
          <p:nvPr/>
        </p:nvSpPr>
        <p:spPr>
          <a:xfrm>
            <a:off x="2029968" y="20848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1C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 天</a:t>
            </a:r>
            <a:endParaRPr lang="en-US" sz="1800" dirty="0"/>
          </a:p>
        </p:txBody>
      </p:sp>
      <p:sp>
        <p:nvSpPr>
          <p:cNvPr id="16" name="tag-注意"/>
          <p:cNvSpPr txBox="1"/>
          <p:nvPr/>
        </p:nvSpPr>
        <p:spPr>
          <a:xfrm>
            <a:off x="2743200" y="2176272"/>
            <a:ext cx="438912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B77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791F"/>
                </a:solidFill>
              </a:rPr>
              <a:t>注意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029968" y="254203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A9099"/>
                </a:solidFill>
              </a:rPr>
              <a:t>钢料到货 09-14</a:t>
            </a:r>
            <a:endParaRPr lang="en-US" sz="700" dirty="0"/>
          </a:p>
        </p:txBody>
      </p:sp>
      <p:sp>
        <p:nvSpPr>
          <p:cNvPr id="18" name="panel"/>
          <p:cNvSpPr/>
          <p:nvPr/>
        </p:nvSpPr>
        <p:spPr>
          <a:xfrm>
            <a:off x="3383280" y="1719072"/>
            <a:ext cx="13716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93008" y="181051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1D1F"/>
                </a:solidFill>
              </a:rPr>
              <a:t>M-2311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93008" y="201168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068"/>
                </a:solidFill>
              </a:rPr>
              <a:t>型腔加工</a:t>
            </a:r>
            <a:endParaRPr lang="en-US" sz="800" dirty="0"/>
          </a:p>
        </p:txBody>
      </p:sp>
      <p:sp>
        <p:nvSpPr>
          <p:cNvPr id="21" name="big-0"/>
          <p:cNvSpPr txBox="1"/>
          <p:nvPr/>
        </p:nvSpPr>
        <p:spPr>
          <a:xfrm>
            <a:off x="3493008" y="20848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1C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 天</a:t>
            </a:r>
            <a:endParaRPr lang="en-US" sz="1800" dirty="0"/>
          </a:p>
        </p:txBody>
      </p:sp>
      <p:sp>
        <p:nvSpPr>
          <p:cNvPr id="22" name="tag-正常"/>
          <p:cNvSpPr txBox="1"/>
          <p:nvPr/>
        </p:nvSpPr>
        <p:spPr>
          <a:xfrm>
            <a:off x="4206240" y="2176272"/>
            <a:ext cx="438912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2E7D5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5B"/>
                </a:solidFill>
              </a:rPr>
              <a:t>正常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493008" y="254203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A9099"/>
                </a:solidFill>
              </a:rPr>
              <a:t>T0 试模 09-24</a:t>
            </a:r>
            <a:endParaRPr lang="en-US" sz="700" dirty="0"/>
          </a:p>
        </p:txBody>
      </p:sp>
      <p:sp>
        <p:nvSpPr>
          <p:cNvPr id="24" name="panel"/>
          <p:cNvSpPr/>
          <p:nvPr/>
        </p:nvSpPr>
        <p:spPr>
          <a:xfrm>
            <a:off x="4846320" y="1719072"/>
            <a:ext cx="13716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5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56048" y="181051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1D1F"/>
                </a:solidFill>
              </a:rPr>
              <a:t>M-2315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956048" y="201168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B6068"/>
                </a:solidFill>
              </a:rPr>
              <a:t>设计评审</a:t>
            </a:r>
            <a:endParaRPr lang="en-US" sz="800" dirty="0"/>
          </a:p>
        </p:txBody>
      </p:sp>
      <p:sp>
        <p:nvSpPr>
          <p:cNvPr id="27" name="big-+2"/>
          <p:cNvSpPr txBox="1"/>
          <p:nvPr/>
        </p:nvSpPr>
        <p:spPr>
          <a:xfrm>
            <a:off x="4956048" y="20848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2E7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</a:t>
            </a:r>
            <a:pPr indent="0" marL="0">
              <a:buNone/>
            </a:pPr>
            <a:r>
              <a:rPr lang="en-US" sz="1100" dirty="0">
                <a:solidFill>
                  <a:srgbClr val="5B6068"/>
                </a:solidFill>
              </a:rPr>
              <a:t> 天</a:t>
            </a:r>
            <a:endParaRPr lang="en-US" sz="1800" dirty="0"/>
          </a:p>
        </p:txBody>
      </p:sp>
      <p:sp>
        <p:nvSpPr>
          <p:cNvPr id="28" name="tag-正常"/>
          <p:cNvSpPr txBox="1"/>
          <p:nvPr/>
        </p:nvSpPr>
        <p:spPr>
          <a:xfrm>
            <a:off x="5669280" y="2176272"/>
            <a:ext cx="438912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2E7D5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5B"/>
                </a:solidFill>
              </a:rPr>
              <a:t>正常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956048" y="2542032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A9099"/>
                </a:solidFill>
              </a:rPr>
              <a:t>设计冻结 09-18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2816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D1F"/>
                </a:solidFill>
              </a:rPr>
              <a:t>时间线</a:t>
            </a:r>
            <a:endParaRPr lang="en-US" sz="1000" dirty="0"/>
          </a:p>
        </p:txBody>
      </p:sp>
      <p:sp>
        <p:nvSpPr>
          <p:cNvPr id="31" name="grid"/>
          <p:cNvSpPr/>
          <p:nvPr/>
        </p:nvSpPr>
        <p:spPr>
          <a:xfrm>
            <a:off x="1005840" y="3255264"/>
            <a:ext cx="0" cy="1115568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2999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08-24</a:t>
            </a:r>
            <a:endParaRPr lang="en-US" sz="640" dirty="0"/>
          </a:p>
        </p:txBody>
      </p:sp>
      <p:sp>
        <p:nvSpPr>
          <p:cNvPr id="33" name="grid"/>
          <p:cNvSpPr/>
          <p:nvPr/>
        </p:nvSpPr>
        <p:spPr>
          <a:xfrm>
            <a:off x="1839433" y="3255264"/>
            <a:ext cx="0" cy="1115568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473673" y="2999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08-31</a:t>
            </a:r>
            <a:endParaRPr lang="en-US" sz="640" dirty="0"/>
          </a:p>
        </p:txBody>
      </p:sp>
      <p:sp>
        <p:nvSpPr>
          <p:cNvPr id="35" name="grid"/>
          <p:cNvSpPr/>
          <p:nvPr/>
        </p:nvSpPr>
        <p:spPr>
          <a:xfrm>
            <a:off x="2673025" y="3255264"/>
            <a:ext cx="0" cy="1115568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307265" y="2999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09-07</a:t>
            </a:r>
            <a:endParaRPr lang="en-US" sz="640" dirty="0"/>
          </a:p>
        </p:txBody>
      </p:sp>
      <p:sp>
        <p:nvSpPr>
          <p:cNvPr id="37" name="grid"/>
          <p:cNvSpPr/>
          <p:nvPr/>
        </p:nvSpPr>
        <p:spPr>
          <a:xfrm>
            <a:off x="3506618" y="3255264"/>
            <a:ext cx="0" cy="1115568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140858" y="2999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09-14</a:t>
            </a:r>
            <a:endParaRPr lang="en-US" sz="640" dirty="0"/>
          </a:p>
        </p:txBody>
      </p:sp>
      <p:sp>
        <p:nvSpPr>
          <p:cNvPr id="39" name="grid"/>
          <p:cNvSpPr/>
          <p:nvPr/>
        </p:nvSpPr>
        <p:spPr>
          <a:xfrm>
            <a:off x="4340210" y="3255264"/>
            <a:ext cx="0" cy="1115568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974450" y="2999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09-21</a:t>
            </a:r>
            <a:endParaRPr lang="en-US" sz="640" dirty="0"/>
          </a:p>
        </p:txBody>
      </p:sp>
      <p:sp>
        <p:nvSpPr>
          <p:cNvPr id="41" name="grid"/>
          <p:cNvSpPr/>
          <p:nvPr/>
        </p:nvSpPr>
        <p:spPr>
          <a:xfrm>
            <a:off x="5173803" y="3255264"/>
            <a:ext cx="0" cy="1115568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08043" y="2999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09-28</a:t>
            </a:r>
            <a:endParaRPr lang="en-US" sz="640" dirty="0"/>
          </a:p>
        </p:txBody>
      </p:sp>
      <p:sp>
        <p:nvSpPr>
          <p:cNvPr id="43" name="grid"/>
          <p:cNvSpPr/>
          <p:nvPr/>
        </p:nvSpPr>
        <p:spPr>
          <a:xfrm>
            <a:off x="6126480" y="3255264"/>
            <a:ext cx="0" cy="1115568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760720" y="2999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8A9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10-05</a:t>
            </a:r>
            <a:endParaRPr lang="en-US" sz="640" dirty="0"/>
          </a:p>
        </p:txBody>
      </p:sp>
      <p:sp>
        <p:nvSpPr>
          <p:cNvPr id="45" name="today"/>
          <p:cNvSpPr/>
          <p:nvPr/>
        </p:nvSpPr>
        <p:spPr>
          <a:xfrm>
            <a:off x="3030279" y="3200400"/>
            <a:ext cx="0" cy="1207008"/>
          </a:xfrm>
          <a:prstGeom prst="line">
            <a:avLst/>
          </a:prstGeom>
          <a:noFill/>
          <a:ln w="19050">
            <a:solidFill>
              <a:srgbClr val="2F4B7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075999" y="31821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b="1" dirty="0">
                <a:solidFill>
                  <a:srgbClr val="2F4B7C"/>
                </a:solidFill>
              </a:rPr>
              <a:t>今天 09-10</a:t>
            </a:r>
            <a:endParaRPr lang="en-US" sz="640" dirty="0"/>
          </a:p>
        </p:txBody>
      </p:sp>
      <p:sp>
        <p:nvSpPr>
          <p:cNvPr id="47" name="Text 45"/>
          <p:cNvSpPr txBox="1"/>
          <p:nvPr/>
        </p:nvSpPr>
        <p:spPr>
          <a:xfrm>
            <a:off x="411480" y="34747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1C1D1F"/>
                </a:solidFill>
              </a:rPr>
              <a:t>M-2308</a:t>
            </a:r>
            <a:endParaRPr lang="en-US" sz="760" dirty="0"/>
          </a:p>
        </p:txBody>
      </p:sp>
      <p:sp>
        <p:nvSpPr>
          <p:cNvPr id="48" name="seg"/>
          <p:cNvSpPr/>
          <p:nvPr/>
        </p:nvSpPr>
        <p:spPr>
          <a:xfrm>
            <a:off x="1005840" y="3566160"/>
            <a:ext cx="1309931" cy="0"/>
          </a:xfrm>
          <a:prstGeom prst="line">
            <a:avLst/>
          </a:prstGeom>
          <a:noFill/>
          <a:ln w="31750">
            <a:solidFill>
              <a:srgbClr val="B3261E"/>
            </a:solidFill>
            <a:prstDash val="solid"/>
          </a:ln>
        </p:spPr>
      </p:sp>
      <p:sp>
        <p:nvSpPr>
          <p:cNvPr id="49" name="seg"/>
          <p:cNvSpPr/>
          <p:nvPr/>
        </p:nvSpPr>
        <p:spPr>
          <a:xfrm>
            <a:off x="2315771" y="3566160"/>
            <a:ext cx="714508" cy="0"/>
          </a:xfrm>
          <a:prstGeom prst="line">
            <a:avLst/>
          </a:prstGeom>
          <a:noFill/>
          <a:ln w="31750">
            <a:solidFill>
              <a:srgbClr val="B3261E"/>
            </a:solidFill>
            <a:prstDash val="sysDot"/>
          </a:ln>
        </p:spPr>
      </p:sp>
      <p:sp>
        <p:nvSpPr>
          <p:cNvPr id="50" name="seg"/>
          <p:cNvSpPr/>
          <p:nvPr/>
        </p:nvSpPr>
        <p:spPr>
          <a:xfrm>
            <a:off x="3030279" y="3566160"/>
            <a:ext cx="714508" cy="0"/>
          </a:xfrm>
          <a:prstGeom prst="line">
            <a:avLst/>
          </a:prstGeom>
          <a:noFill/>
          <a:ln w="31750">
            <a:solidFill>
              <a:srgbClr val="E3E5E8"/>
            </a:solidFill>
            <a:prstDash val="solid"/>
          </a:ln>
        </p:spPr>
      </p:sp>
      <p:sp>
        <p:nvSpPr>
          <p:cNvPr id="51" name="node"/>
          <p:cNvSpPr/>
          <p:nvPr/>
        </p:nvSpPr>
        <p:spPr>
          <a:xfrm>
            <a:off x="2260907" y="3511296"/>
            <a:ext cx="109728" cy="109728"/>
          </a:xfrm>
          <a:prstGeom prst="ellipse">
            <a:avLst/>
          </a:prstGeom>
          <a:solidFill>
            <a:srgbClr val="FCFCFB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52" name="node"/>
          <p:cNvSpPr/>
          <p:nvPr/>
        </p:nvSpPr>
        <p:spPr>
          <a:xfrm>
            <a:off x="3689923" y="3511296"/>
            <a:ext cx="109728" cy="109728"/>
          </a:xfrm>
          <a:prstGeom prst="ellipse">
            <a:avLst/>
          </a:prstGeom>
          <a:solidFill>
            <a:srgbClr val="FCFCFB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401371" y="3630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B3261E"/>
                </a:solidFill>
              </a:rPr>
              <a:t>计划 09-04 已逾期</a:t>
            </a:r>
            <a:endParaRPr lang="en-US" sz="640" dirty="0"/>
          </a:p>
        </p:txBody>
      </p:sp>
      <p:sp>
        <p:nvSpPr>
          <p:cNvPr id="54" name="Text 52"/>
          <p:cNvSpPr txBox="1"/>
          <p:nvPr/>
        </p:nvSpPr>
        <p:spPr>
          <a:xfrm>
            <a:off x="3836227" y="3474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5B6068"/>
                </a:solidFill>
              </a:rPr>
              <a:t>新 T1 试模 09-16</a:t>
            </a:r>
            <a:endParaRPr lang="en-US" sz="640" dirty="0"/>
          </a:p>
        </p:txBody>
      </p:sp>
      <p:sp>
        <p:nvSpPr>
          <p:cNvPr id="55" name="Text 53"/>
          <p:cNvSpPr txBox="1"/>
          <p:nvPr/>
        </p:nvSpPr>
        <p:spPr>
          <a:xfrm>
            <a:off x="411480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1C1D1F"/>
                </a:solidFill>
              </a:rPr>
              <a:t>M-2319</a:t>
            </a:r>
            <a:endParaRPr lang="en-US" sz="760" dirty="0"/>
          </a:p>
        </p:txBody>
      </p:sp>
      <p:sp>
        <p:nvSpPr>
          <p:cNvPr id="56" name="seg"/>
          <p:cNvSpPr/>
          <p:nvPr/>
        </p:nvSpPr>
        <p:spPr>
          <a:xfrm>
            <a:off x="1005840" y="3822192"/>
            <a:ext cx="2024439" cy="0"/>
          </a:xfrm>
          <a:prstGeom prst="line">
            <a:avLst/>
          </a:prstGeom>
          <a:noFill/>
          <a:ln w="31750">
            <a:solidFill>
              <a:srgbClr val="B7791F"/>
            </a:solidFill>
            <a:prstDash val="solid"/>
          </a:ln>
        </p:spPr>
      </p:sp>
      <p:sp>
        <p:nvSpPr>
          <p:cNvPr id="57" name="seg"/>
          <p:cNvSpPr/>
          <p:nvPr/>
        </p:nvSpPr>
        <p:spPr>
          <a:xfrm>
            <a:off x="3030279" y="3822192"/>
            <a:ext cx="476339" cy="0"/>
          </a:xfrm>
          <a:prstGeom prst="line">
            <a:avLst/>
          </a:prstGeom>
          <a:noFill/>
          <a:ln w="31750">
            <a:solidFill>
              <a:srgbClr val="E3E5E8"/>
            </a:solidFill>
            <a:prstDash val="solid"/>
          </a:ln>
        </p:spPr>
      </p:sp>
      <p:sp>
        <p:nvSpPr>
          <p:cNvPr id="58" name="node"/>
          <p:cNvSpPr/>
          <p:nvPr/>
        </p:nvSpPr>
        <p:spPr>
          <a:xfrm>
            <a:off x="3451754" y="3767328"/>
            <a:ext cx="109728" cy="109728"/>
          </a:xfrm>
          <a:prstGeom prst="ellipse">
            <a:avLst/>
          </a:prstGeom>
          <a:solidFill>
            <a:srgbClr val="FCFCFB"/>
          </a:solidFill>
          <a:ln w="19050">
            <a:solidFill>
              <a:srgbClr val="B7791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598058" y="3730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5B6068"/>
                </a:solidFill>
              </a:rPr>
              <a:t>钢料到货 09-14</a:t>
            </a:r>
            <a:endParaRPr lang="en-US" sz="64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39867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1C1D1F"/>
                </a:solidFill>
              </a:rPr>
              <a:t>M-2311</a:t>
            </a:r>
            <a:endParaRPr lang="en-US" sz="760" dirty="0"/>
          </a:p>
        </p:txBody>
      </p:sp>
      <p:sp>
        <p:nvSpPr>
          <p:cNvPr id="61" name="seg"/>
          <p:cNvSpPr/>
          <p:nvPr/>
        </p:nvSpPr>
        <p:spPr>
          <a:xfrm>
            <a:off x="1005840" y="4078224"/>
            <a:ext cx="2024439" cy="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</p:sp>
      <p:sp>
        <p:nvSpPr>
          <p:cNvPr id="62" name="seg"/>
          <p:cNvSpPr/>
          <p:nvPr/>
        </p:nvSpPr>
        <p:spPr>
          <a:xfrm>
            <a:off x="3030279" y="4078224"/>
            <a:ext cx="1667185" cy="0"/>
          </a:xfrm>
          <a:prstGeom prst="line">
            <a:avLst/>
          </a:prstGeom>
          <a:noFill/>
          <a:ln w="31750">
            <a:solidFill>
              <a:srgbClr val="E3E5E8"/>
            </a:solidFill>
            <a:prstDash val="solid"/>
          </a:ln>
        </p:spPr>
      </p:sp>
      <p:sp>
        <p:nvSpPr>
          <p:cNvPr id="63" name="node"/>
          <p:cNvSpPr/>
          <p:nvPr/>
        </p:nvSpPr>
        <p:spPr>
          <a:xfrm>
            <a:off x="4642600" y="4023360"/>
            <a:ext cx="109728" cy="109728"/>
          </a:xfrm>
          <a:prstGeom prst="ellipse">
            <a:avLst/>
          </a:prstGeom>
          <a:solidFill>
            <a:srgbClr val="FCFCFB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788904" y="39867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5B6068"/>
                </a:solidFill>
              </a:rPr>
              <a:t>T0 试模 09-24</a:t>
            </a:r>
            <a:endParaRPr lang="en-US" sz="640" dirty="0"/>
          </a:p>
        </p:txBody>
      </p:sp>
      <p:sp>
        <p:nvSpPr>
          <p:cNvPr id="65" name="Text 63"/>
          <p:cNvSpPr txBox="1"/>
          <p:nvPr/>
        </p:nvSpPr>
        <p:spPr>
          <a:xfrm>
            <a:off x="411480" y="4242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1C1D1F"/>
                </a:solidFill>
              </a:rPr>
              <a:t>M-2315</a:t>
            </a:r>
            <a:endParaRPr lang="en-US" sz="760" dirty="0"/>
          </a:p>
        </p:txBody>
      </p:sp>
      <p:sp>
        <p:nvSpPr>
          <p:cNvPr id="66" name="seg"/>
          <p:cNvSpPr/>
          <p:nvPr/>
        </p:nvSpPr>
        <p:spPr>
          <a:xfrm>
            <a:off x="1005840" y="4334256"/>
            <a:ext cx="2024439" cy="0"/>
          </a:xfrm>
          <a:prstGeom prst="line">
            <a:avLst/>
          </a:prstGeom>
          <a:noFill/>
          <a:ln w="31750">
            <a:solidFill>
              <a:srgbClr val="2E7D5B"/>
            </a:solidFill>
            <a:prstDash val="solid"/>
          </a:ln>
        </p:spPr>
      </p:sp>
      <p:sp>
        <p:nvSpPr>
          <p:cNvPr id="67" name="seg"/>
          <p:cNvSpPr/>
          <p:nvPr/>
        </p:nvSpPr>
        <p:spPr>
          <a:xfrm>
            <a:off x="3030279" y="4334256"/>
            <a:ext cx="952677" cy="0"/>
          </a:xfrm>
          <a:prstGeom prst="line">
            <a:avLst/>
          </a:prstGeom>
          <a:noFill/>
          <a:ln w="31750">
            <a:solidFill>
              <a:srgbClr val="E3E5E8"/>
            </a:solidFill>
            <a:prstDash val="solid"/>
          </a:ln>
        </p:spPr>
      </p:sp>
      <p:sp>
        <p:nvSpPr>
          <p:cNvPr id="68" name="node"/>
          <p:cNvSpPr/>
          <p:nvPr/>
        </p:nvSpPr>
        <p:spPr>
          <a:xfrm>
            <a:off x="3928092" y="4279392"/>
            <a:ext cx="109728" cy="109728"/>
          </a:xfrm>
          <a:prstGeom prst="ellipse">
            <a:avLst/>
          </a:prstGeom>
          <a:solidFill>
            <a:srgbClr val="FCFCFB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074396" y="4242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5B6068"/>
                </a:solidFill>
              </a:rPr>
              <a:t>设计冻结 09-18</a:t>
            </a:r>
            <a:endParaRPr lang="en-US" sz="640" dirty="0"/>
          </a:p>
        </p:txBody>
      </p:sp>
      <p:sp>
        <p:nvSpPr>
          <p:cNvPr id="70" name="Text 68"/>
          <p:cNvSpPr txBox="1"/>
          <p:nvPr/>
        </p:nvSpPr>
        <p:spPr>
          <a:xfrm>
            <a:off x="6492240" y="1737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D1F"/>
                </a:solidFill>
              </a:rPr>
              <a:t>异常明细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6492240" y="1965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1D1F"/>
                </a:solidFill>
              </a:rPr>
              <a:t>M-2308  </a:t>
            </a:r>
            <a:pPr indent="0" marL="0">
              <a:buNone/>
            </a:pPr>
            <a:r>
              <a:rPr lang="en-US" sz="900" b="1" dirty="0">
                <a:solidFill>
                  <a:srgbClr val="B3261E"/>
                </a:solidFill>
              </a:rPr>
              <a:t>延期 6 天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649224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C1D1F"/>
                </a:solidFill>
              </a:rPr>
              <a:t>电极外协厂 09-01 起优先其他客户订单，我方电极排产从 09-02 推到 09-12，型腔 EDM 停工 6 天</a:t>
            </a:r>
            <a:endParaRPr lang="en-US" sz="700" dirty="0"/>
          </a:p>
        </p:txBody>
      </p:sp>
      <p:sp>
        <p:nvSpPr>
          <p:cNvPr id="73" name="Text 71"/>
          <p:cNvSpPr txBox="1"/>
          <p:nvPr/>
        </p:nvSpPr>
        <p:spPr>
          <a:xfrm>
            <a:off x="6492240" y="2624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B6068"/>
                </a:solidFill>
              </a:rPr>
              <a:t>待谁 </a:t>
            </a:r>
            <a:pPr indent="0" marL="0">
              <a:buNone/>
            </a:pPr>
            <a:r>
              <a:rPr lang="en-US" sz="700" dirty="0">
                <a:solidFill>
                  <a:srgbClr val="1C1D1F"/>
                </a:solidFill>
              </a:rPr>
              <a:t>采购部确认外协排产</a:t>
            </a:r>
            <a:pPr indent="0" marL="0">
              <a:buNone/>
            </a:pPr>
            <a:r>
              <a:rPr lang="en-US" sz="700" dirty="0">
                <a:solidFill>
                  <a:srgbClr val="5B6068"/>
                </a:solidFill>
              </a:rPr>
              <a:t>　期限 </a:t>
            </a:r>
            <a:pPr indent="0" marL="0">
              <a:buNone/>
            </a:pPr>
            <a:r>
              <a:rPr lang="en-US" sz="700" b="1" dirty="0">
                <a:solidFill>
                  <a:srgbClr val="1C1D1F"/>
                </a:solidFill>
              </a:rPr>
              <a:t>09-15</a:t>
            </a:r>
            <a:endParaRPr lang="en-US" sz="700" dirty="0"/>
          </a:p>
        </p:txBody>
      </p:sp>
      <p:sp>
        <p:nvSpPr>
          <p:cNvPr id="74" name="Text 72"/>
          <p:cNvSpPr txBox="1"/>
          <p:nvPr/>
        </p:nvSpPr>
        <p:spPr>
          <a:xfrm>
            <a:off x="6492240" y="28620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1D1F"/>
                </a:solidFill>
              </a:rPr>
              <a:t>M-2319  </a:t>
            </a:r>
            <a:pPr indent="0" marL="0">
              <a:buNone/>
            </a:pPr>
            <a:r>
              <a:rPr lang="en-US" sz="900" b="1" dirty="0">
                <a:solidFill>
                  <a:srgbClr val="B7791F"/>
                </a:solidFill>
              </a:rPr>
              <a:t>风险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6492240" y="3044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C1D1F"/>
                </a:solidFill>
              </a:rPr>
              <a:t>钢料到货日 09-14，截至 09-10 供应商尚未发出发货通知</a:t>
            </a:r>
            <a:endParaRPr lang="en-US" sz="700" dirty="0"/>
          </a:p>
        </p:txBody>
      </p:sp>
      <p:sp>
        <p:nvSpPr>
          <p:cNvPr id="76" name="Text 74"/>
          <p:cNvSpPr txBox="1"/>
          <p:nvPr/>
        </p:nvSpPr>
        <p:spPr>
          <a:xfrm>
            <a:off x="6492240" y="33741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B6068"/>
                </a:solidFill>
              </a:rPr>
              <a:t>待谁 </a:t>
            </a:r>
            <a:pPr indent="0" marL="0">
              <a:buNone/>
            </a:pPr>
            <a:r>
              <a:rPr lang="en-US" sz="700" dirty="0">
                <a:solidFill>
                  <a:srgbClr val="1C1D1F"/>
                </a:solidFill>
              </a:rPr>
              <a:t>采购部跟催</a:t>
            </a:r>
            <a:pPr indent="0" marL="0">
              <a:buNone/>
            </a:pPr>
            <a:r>
              <a:rPr lang="en-US" sz="700" dirty="0">
                <a:solidFill>
                  <a:srgbClr val="5B6068"/>
                </a:solidFill>
              </a:rPr>
              <a:t>　期限 </a:t>
            </a:r>
            <a:pPr indent="0" marL="0">
              <a:buNone/>
            </a:pPr>
            <a:r>
              <a:rPr lang="en-US" sz="700" b="1" dirty="0">
                <a:solidFill>
                  <a:srgbClr val="1C1D1F"/>
                </a:solidFill>
              </a:rPr>
              <a:t>09-11</a:t>
            </a:r>
            <a:endParaRPr lang="en-US" sz="700" dirty="0"/>
          </a:p>
        </p:txBody>
      </p:sp>
      <p:sp>
        <p:nvSpPr>
          <p:cNvPr id="77" name="Text 75"/>
          <p:cNvSpPr txBox="1"/>
          <p:nvPr/>
        </p:nvSpPr>
        <p:spPr>
          <a:xfrm>
            <a:off x="6492240" y="35935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D1F"/>
                </a:solidFill>
              </a:rPr>
              <a:t>本期变化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649224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C1D1F"/>
                </a:solidFill>
              </a:rPr>
              <a:t>M-2308  </a:t>
            </a:r>
            <a:pPr indent="0" marL="0">
              <a:buNone/>
            </a:pPr>
            <a:r>
              <a:rPr lang="en-US" sz="700" dirty="0">
                <a:solidFill>
                  <a:srgbClr val="1C1D1F"/>
                </a:solidFill>
              </a:rPr>
              <a:t>T1 试模日期 09-04 → 09-16，</a:t>
            </a:r>
            <a:pPr indent="0" marL="0">
              <a:buNone/>
            </a:pPr>
            <a:r>
              <a:rPr lang="en-US" sz="700" dirty="0">
                <a:solidFill>
                  <a:srgbClr val="B3261E"/>
                </a:solidFill>
              </a:rPr>
              <a:t>推迟 12 天</a:t>
            </a:r>
            <a:endParaRPr lang="en-US" sz="700" dirty="0"/>
          </a:p>
        </p:txBody>
      </p:sp>
      <p:sp>
        <p:nvSpPr>
          <p:cNvPr id="79" name="Text 77"/>
          <p:cNvSpPr txBox="1"/>
          <p:nvPr/>
        </p:nvSpPr>
        <p:spPr>
          <a:xfrm>
            <a:off x="6492240" y="4105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C1D1F"/>
                </a:solidFill>
              </a:rPr>
              <a:t>M-2311  </a:t>
            </a:r>
            <a:pPr indent="0" marL="0">
              <a:buNone/>
            </a:pPr>
            <a:r>
              <a:rPr lang="en-US" sz="700" dirty="0">
                <a:solidFill>
                  <a:srgbClr val="1C1D1F"/>
                </a:solidFill>
              </a:rPr>
              <a:t>型腔加工完成率 40% → 65%，</a:t>
            </a:r>
            <a:pPr indent="0" marL="0">
              <a:buNone/>
            </a:pPr>
            <a:r>
              <a:rPr lang="en-US" sz="700" dirty="0">
                <a:solidFill>
                  <a:srgbClr val="1C1D1F"/>
                </a:solidFill>
              </a:rPr>
              <a:t>+25 个百分点</a:t>
            </a:r>
            <a:endParaRPr lang="en-US" sz="700" dirty="0"/>
          </a:p>
        </p:txBody>
      </p:sp>
      <p:sp>
        <p:nvSpPr>
          <p:cNvPr id="80" name="Text 78"/>
          <p:cNvSpPr txBox="1"/>
          <p:nvPr/>
        </p:nvSpPr>
        <p:spPr>
          <a:xfrm>
            <a:off x="6492240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C1D1F"/>
                </a:solidFill>
              </a:rPr>
              <a:t>M-2315  </a:t>
            </a:r>
            <a:pPr indent="0" marL="0">
              <a:buNone/>
            </a:pPr>
            <a:r>
              <a:rPr lang="en-US" sz="700" dirty="0">
                <a:solidFill>
                  <a:srgbClr val="1C1D1F"/>
                </a:solidFill>
              </a:rPr>
              <a:t>设计评审完成 计划 09-12 → 实际 09-10，</a:t>
            </a:r>
            <a:pPr indent="0" marL="0">
              <a:buNone/>
            </a:pPr>
            <a:r>
              <a:rPr lang="en-US" sz="700" dirty="0">
                <a:solidFill>
                  <a:srgbClr val="2E7D5B"/>
                </a:solidFill>
              </a:rPr>
              <a:t>提前 2 天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a-linen">
  <a:themeElements>
    <a:clrScheme name="diva-linen">
      <a:dk1>
        <a:srgbClr val="1C1D1F"/>
      </a:dk1>
      <a:lt1>
        <a:srgbClr val="FCFCFB"/>
      </a:lt1>
      <a:dk2>
        <a:srgbClr val="5B6068"/>
      </a:dk2>
      <a:lt2>
        <a:srgbClr val="FFFFFF"/>
      </a:lt2>
      <a:accent1>
        <a:srgbClr val="2F4B7C"/>
      </a:accent1>
      <a:accent2>
        <a:srgbClr val="2E7D5B"/>
      </a:accent2>
      <a:accent3>
        <a:srgbClr val="B7791F"/>
      </a:accent3>
      <a:accent4>
        <a:srgbClr val="B3261E"/>
      </a:accent4>
      <a:accent5>
        <a:srgbClr val="8A9099"/>
      </a:accent5>
      <a:accent6>
        <a:srgbClr val="E3E5E8"/>
      </a:accent6>
      <a:hlink>
        <a:srgbClr val="2F4B7C"/>
      </a:hlink>
      <a:folHlink>
        <a:srgbClr val="5B6068"/>
      </a:folHlink>
    </a:clrScheme>
    <a:fontScheme name="diva-linen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注塑模具开发周报 · 第 37 周</dc:title>
  <dc:subject>PptxGenJS Presentation</dc:subject>
  <dc:creator>diva-report-skill 示例</dc:creator>
  <cp:lastModifiedBy>diva-report-skill 示例</cp:lastModifiedBy>
  <cp:revision>1</cp:revision>
  <dcterms:created xsi:type="dcterms:W3CDTF">2026-10-08T09:00:50Z</dcterms:created>
  <dcterms:modified xsi:type="dcterms:W3CDTF">2026-10-08T09:00:50Z</dcterms:modified>
</cp:coreProperties>
</file>