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111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82880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700" dirty="0">
                <a:solidFill>
                  <a:srgbClr val="111111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8D8880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0"/>
          <p:cNvSpPr txBox="1"/>
          <p:nvPr/>
        </p:nvSpPr>
        <p:spPr>
          <a:xfrm>
            <a:off x="457200" y="4754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8880"/>
                </a:solidFill>
              </a:rPr>
              <a:t>注塑模具开发周报 · 第 37 周　　示例数据，全部虚构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1111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8880"/>
                </a:solidFill>
              </a:rPr>
              <a:t>注塑模具开发周报 · 第 37 周　　示例数据，全部虚构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8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8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注塑模具开发周报 · 第 37 周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8288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11111"/>
                </a:solidFill>
              </a:rPr>
              <a:t>4 套在制模具中 3 套在计划内；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A61B29"/>
                </a:solidFill>
              </a:rPr>
              <a:t>M-2308 延期 6 天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11111"/>
                </a:solidFill>
              </a:rPr>
              <a:t>，T1 试模由 09-04 改到 09-16，需要采购部在 09-15 前确认电极外协排产。</a:t>
            </a: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8880"/>
                </a:solidFill>
              </a:rPr>
              <a:t>生成 2026-09-11 14:20　　数据截止 2026-09-10 18:00　　范围 4 套在制模具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M-2308 延期 6 天，是本周唯一的异常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7544F"/>
                </a:solidFill>
              </a:rPr>
              <a:t>前保险杠格栅 · T1 试模</a:t>
            </a:r>
            <a:endParaRPr lang="en-US" sz="1200" dirty="0"/>
          </a:p>
        </p:txBody>
      </p:sp>
      <p:sp>
        <p:nvSpPr>
          <p:cNvPr id="4" name="big-−6"/>
          <p:cNvSpPr txBox="1"/>
          <p:nvPr/>
        </p:nvSpPr>
        <p:spPr>
          <a:xfrm>
            <a:off x="457200" y="15544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dirty="0">
                <a:solidFill>
                  <a:srgbClr val="A61B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−6</a:t>
            </a:r>
            <a:pPr indent="0" marL="0">
              <a:buNone/>
            </a:pPr>
            <a:r>
              <a:rPr lang="en-US" sz="1100" dirty="0">
                <a:solidFill>
                  <a:srgbClr val="57544F"/>
                </a:solidFill>
              </a:rPr>
              <a:t> 天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17373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T1 试模由 09-04 改到 09-16。原因是电极外协厂 09-01 起优先其他客户订单，我方电极排产从 09-02 推到 09-12，型腔 EDM 停工 6 天。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8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需要采购部在 09-15 前确认电极外协排产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7544F"/>
                </a:solidFill>
              </a:rPr>
              <a:t>确认不了，模具车间自制电极，再加 4 天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61B2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采购部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确认外协排产，拿到书面交期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09-15</a:t>
            </a:r>
            <a:endParaRPr lang="en-US" sz="1600" dirty="0"/>
          </a:p>
        </p:txBody>
      </p:sp>
      <p:sp>
        <p:nvSpPr>
          <p:cNvPr id="7" name="rule"/>
          <p:cNvSpPr/>
          <p:nvPr/>
        </p:nvSpPr>
        <p:spPr>
          <a:xfrm>
            <a:off x="457200" y="2240280"/>
            <a:ext cx="8229600" cy="0"/>
          </a:xfrm>
          <a:prstGeom prst="line">
            <a:avLst/>
          </a:prstGeom>
          <a:noFill/>
          <a:ln w="9525">
            <a:solidFill>
              <a:srgbClr val="DEDA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模具车间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09-15 未拿到确认则自制电极（3 件）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09-16 启动</a:t>
            </a:r>
            <a:endParaRPr lang="en-US" sz="1600" dirty="0"/>
          </a:p>
        </p:txBody>
      </p:sp>
      <p:sp>
        <p:nvSpPr>
          <p:cNvPr id="11" name="rule"/>
          <p:cNvSpPr/>
          <p:nvPr/>
        </p:nvSpPr>
        <p:spPr>
          <a:xfrm>
            <a:off x="457200" y="3246120"/>
            <a:ext cx="8229600" cy="0"/>
          </a:xfrm>
          <a:prstGeom prst="line">
            <a:avLst/>
          </a:prstGeom>
          <a:noFill/>
          <a:ln w="9525">
            <a:solidFill>
              <a:srgbClr val="DEDAD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8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其余 3 套在计划内，M-2319 的钢料到货要盯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7544F"/>
                </a:solidFill>
              </a:rPr>
              <a:t>截至 09-10 供应商尚未发出发货通知，采购部 09-11 跟催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M-2319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618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44F"/>
                </a:solidFill>
              </a:rPr>
              <a:t>后视镜壳　钢料采购</a:t>
            </a:r>
            <a:endParaRPr lang="en-US" sz="1300" dirty="0"/>
          </a:p>
        </p:txBody>
      </p:sp>
      <p:sp>
        <p:nvSpPr>
          <p:cNvPr id="6" name="tag-注意"/>
          <p:cNvSpPr txBox="1"/>
          <p:nvPr/>
        </p:nvSpPr>
        <p:spPr>
          <a:xfrm>
            <a:off x="5212080" y="1627632"/>
            <a:ext cx="566928" cy="237744"/>
          </a:xfrm>
          <a:prstGeom prst="roundRect">
            <a:avLst>
              <a:gd name="adj" fmla="val 15385"/>
            </a:avLst>
          </a:prstGeom>
          <a:noFill/>
          <a:ln w="9525">
            <a:solidFill>
              <a:srgbClr val="9C6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6510"/>
                </a:solidFill>
              </a:rPr>
              <a:t>注意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184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下一节点 钢料到货 09-14</a:t>
            </a:r>
            <a:endParaRPr lang="en-US" sz="1300" dirty="0"/>
          </a:p>
        </p:txBody>
      </p:sp>
      <p:sp>
        <p:nvSpPr>
          <p:cNvPr id="8" name="rule"/>
          <p:cNvSpPr/>
          <p:nvPr/>
        </p:nvSpPr>
        <p:spPr>
          <a:xfrm>
            <a:off x="457200" y="2121408"/>
            <a:ext cx="8229600" cy="0"/>
          </a:xfrm>
          <a:prstGeom prst="line">
            <a:avLst/>
          </a:prstGeom>
          <a:noFill/>
          <a:ln w="9525">
            <a:solidFill>
              <a:srgbClr val="DEDA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423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M-2311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487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44F"/>
                </a:solidFill>
              </a:rPr>
              <a:t>仪表板骨架　型腔加工</a:t>
            </a:r>
            <a:endParaRPr lang="en-US" sz="1300" dirty="0"/>
          </a:p>
        </p:txBody>
      </p:sp>
      <p:sp>
        <p:nvSpPr>
          <p:cNvPr id="11" name="tag-正常"/>
          <p:cNvSpPr txBox="1"/>
          <p:nvPr/>
        </p:nvSpPr>
        <p:spPr>
          <a:xfrm>
            <a:off x="5212080" y="2496312"/>
            <a:ext cx="566928" cy="237744"/>
          </a:xfrm>
          <a:prstGeom prst="roundRect">
            <a:avLst>
              <a:gd name="adj" fmla="val 15385"/>
            </a:avLst>
          </a:prstGeom>
          <a:noFill/>
          <a:ln w="9525">
            <a:solidFill>
              <a:srgbClr val="2C6E4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6E49"/>
                </a:solidFill>
              </a:rPr>
              <a:t>正常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4871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下一节点 T0 试模 09-24</a:t>
            </a:r>
            <a:endParaRPr lang="en-US" sz="1300" dirty="0"/>
          </a:p>
        </p:txBody>
      </p:sp>
      <p:sp>
        <p:nvSpPr>
          <p:cNvPr id="13" name="rule"/>
          <p:cNvSpPr/>
          <p:nvPr/>
        </p:nvSpPr>
        <p:spPr>
          <a:xfrm>
            <a:off x="457200" y="2990088"/>
            <a:ext cx="8229600" cy="0"/>
          </a:xfrm>
          <a:prstGeom prst="line">
            <a:avLst/>
          </a:prstGeom>
          <a:noFill/>
          <a:ln w="9525">
            <a:solidFill>
              <a:srgbClr val="DEDA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M-2315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3355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44F"/>
                </a:solidFill>
              </a:rPr>
              <a:t>门内饰板　设计评审</a:t>
            </a:r>
            <a:endParaRPr lang="en-US" sz="1300" dirty="0"/>
          </a:p>
        </p:txBody>
      </p:sp>
      <p:sp>
        <p:nvSpPr>
          <p:cNvPr id="16" name="tag-正常"/>
          <p:cNvSpPr txBox="1"/>
          <p:nvPr/>
        </p:nvSpPr>
        <p:spPr>
          <a:xfrm>
            <a:off x="5212080" y="3364992"/>
            <a:ext cx="566928" cy="237744"/>
          </a:xfrm>
          <a:prstGeom prst="roundRect">
            <a:avLst>
              <a:gd name="adj" fmla="val 15385"/>
            </a:avLst>
          </a:prstGeom>
          <a:noFill/>
          <a:ln w="9525">
            <a:solidFill>
              <a:srgbClr val="2C6E4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6E49"/>
                </a:solidFill>
              </a:rPr>
              <a:t>正常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3558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下一节点 设计冻结 09-18</a:t>
            </a:r>
            <a:endParaRPr lang="en-US" sz="1300" dirty="0"/>
          </a:p>
        </p:txBody>
      </p:sp>
      <p:sp>
        <p:nvSpPr>
          <p:cNvPr id="18" name="rule"/>
          <p:cNvSpPr/>
          <p:nvPr/>
        </p:nvSpPr>
        <p:spPr>
          <a:xfrm>
            <a:off x="457200" y="3858768"/>
            <a:ext cx="8229600" cy="0"/>
          </a:xfrm>
          <a:prstGeom prst="line">
            <a:avLst/>
          </a:prstGeom>
          <a:noFill/>
          <a:ln w="9525">
            <a:solidFill>
              <a:srgbClr val="DEDAD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8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逾期的 6 天拖到今天，新节点在 09-16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7544F"/>
                </a:solidFill>
              </a:rPr>
              <a:t>08-24 到 10-05，今天是 09-10</a:t>
            </a:r>
            <a:endParaRPr lang="en-US" sz="1200" dirty="0"/>
          </a:p>
        </p:txBody>
      </p:sp>
      <p:sp>
        <p:nvSpPr>
          <p:cNvPr id="4" name="grid"/>
          <p:cNvSpPr/>
          <p:nvPr/>
        </p:nvSpPr>
        <p:spPr>
          <a:xfrm>
            <a:off x="1463040" y="1719072"/>
            <a:ext cx="0" cy="2286000"/>
          </a:xfrm>
          <a:prstGeom prst="line">
            <a:avLst/>
          </a:prstGeom>
          <a:noFill/>
          <a:ln w="9525">
            <a:solidFill>
              <a:srgbClr val="DEDA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463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8D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08-24</a:t>
            </a:r>
            <a:endParaRPr lang="en-US" sz="840" dirty="0"/>
          </a:p>
        </p:txBody>
      </p:sp>
      <p:sp>
        <p:nvSpPr>
          <p:cNvPr id="6" name="grid"/>
          <p:cNvSpPr/>
          <p:nvPr/>
        </p:nvSpPr>
        <p:spPr>
          <a:xfrm>
            <a:off x="2609230" y="1719072"/>
            <a:ext cx="0" cy="2286000"/>
          </a:xfrm>
          <a:prstGeom prst="line">
            <a:avLst/>
          </a:prstGeom>
          <a:noFill/>
          <a:ln w="9525">
            <a:solidFill>
              <a:srgbClr val="DEDA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43470" y="1463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8D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08-31</a:t>
            </a:r>
            <a:endParaRPr lang="en-US" sz="840" dirty="0"/>
          </a:p>
        </p:txBody>
      </p:sp>
      <p:sp>
        <p:nvSpPr>
          <p:cNvPr id="8" name="grid"/>
          <p:cNvSpPr/>
          <p:nvPr/>
        </p:nvSpPr>
        <p:spPr>
          <a:xfrm>
            <a:off x="3755420" y="1719072"/>
            <a:ext cx="0" cy="2286000"/>
          </a:xfrm>
          <a:prstGeom prst="line">
            <a:avLst/>
          </a:prstGeom>
          <a:noFill/>
          <a:ln w="9525">
            <a:solidFill>
              <a:srgbClr val="DEDA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9660" y="1463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8D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09-07</a:t>
            </a:r>
            <a:endParaRPr lang="en-US" sz="840" dirty="0"/>
          </a:p>
        </p:txBody>
      </p:sp>
      <p:sp>
        <p:nvSpPr>
          <p:cNvPr id="10" name="grid"/>
          <p:cNvSpPr/>
          <p:nvPr/>
        </p:nvSpPr>
        <p:spPr>
          <a:xfrm>
            <a:off x="4901609" y="1719072"/>
            <a:ext cx="0" cy="2286000"/>
          </a:xfrm>
          <a:prstGeom prst="line">
            <a:avLst/>
          </a:prstGeom>
          <a:noFill/>
          <a:ln w="9525">
            <a:solidFill>
              <a:srgbClr val="DEDA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35849" y="1463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8D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09-14</a:t>
            </a:r>
            <a:endParaRPr lang="en-US" sz="840" dirty="0"/>
          </a:p>
        </p:txBody>
      </p:sp>
      <p:sp>
        <p:nvSpPr>
          <p:cNvPr id="12" name="grid"/>
          <p:cNvSpPr/>
          <p:nvPr/>
        </p:nvSpPr>
        <p:spPr>
          <a:xfrm>
            <a:off x="6047799" y="1719072"/>
            <a:ext cx="0" cy="2286000"/>
          </a:xfrm>
          <a:prstGeom prst="line">
            <a:avLst/>
          </a:prstGeom>
          <a:noFill/>
          <a:ln w="9525">
            <a:solidFill>
              <a:srgbClr val="DEDA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82039" y="1463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8D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09-21</a:t>
            </a:r>
            <a:endParaRPr lang="en-US" sz="840" dirty="0"/>
          </a:p>
        </p:txBody>
      </p:sp>
      <p:sp>
        <p:nvSpPr>
          <p:cNvPr id="14" name="grid"/>
          <p:cNvSpPr/>
          <p:nvPr/>
        </p:nvSpPr>
        <p:spPr>
          <a:xfrm>
            <a:off x="7193989" y="1719072"/>
            <a:ext cx="0" cy="2286000"/>
          </a:xfrm>
          <a:prstGeom prst="line">
            <a:avLst/>
          </a:prstGeom>
          <a:noFill/>
          <a:ln w="9525">
            <a:solidFill>
              <a:srgbClr val="DEDA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28229" y="1463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8D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09-28</a:t>
            </a:r>
            <a:endParaRPr lang="en-US" sz="840" dirty="0"/>
          </a:p>
        </p:txBody>
      </p:sp>
      <p:sp>
        <p:nvSpPr>
          <p:cNvPr id="16" name="grid"/>
          <p:cNvSpPr/>
          <p:nvPr/>
        </p:nvSpPr>
        <p:spPr>
          <a:xfrm>
            <a:off x="8503920" y="1719072"/>
            <a:ext cx="0" cy="2286000"/>
          </a:xfrm>
          <a:prstGeom prst="line">
            <a:avLst/>
          </a:prstGeom>
          <a:noFill/>
          <a:ln w="9525">
            <a:solidFill>
              <a:srgbClr val="DEDA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38160" y="1463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8D8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10-05</a:t>
            </a:r>
            <a:endParaRPr lang="en-US" sz="840" dirty="0"/>
          </a:p>
        </p:txBody>
      </p:sp>
      <p:sp>
        <p:nvSpPr>
          <p:cNvPr id="18" name="today"/>
          <p:cNvSpPr/>
          <p:nvPr/>
        </p:nvSpPr>
        <p:spPr>
          <a:xfrm>
            <a:off x="4246644" y="1664208"/>
            <a:ext cx="0" cy="2377440"/>
          </a:xfrm>
          <a:prstGeom prst="line">
            <a:avLst/>
          </a:prstGeom>
          <a:noFill/>
          <a:ln w="19050">
            <a:solidFill>
              <a:srgbClr val="A61B2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92364" y="16459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b="1" dirty="0">
                <a:solidFill>
                  <a:srgbClr val="A61B29"/>
                </a:solidFill>
              </a:rPr>
              <a:t>今天 09-10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1938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98" b="1" dirty="0">
                <a:solidFill>
                  <a:srgbClr val="111111"/>
                </a:solidFill>
              </a:rPr>
              <a:t>M-2308</a:t>
            </a:r>
            <a:endParaRPr lang="en-US" sz="998" dirty="0"/>
          </a:p>
        </p:txBody>
      </p:sp>
      <p:sp>
        <p:nvSpPr>
          <p:cNvPr id="21" name="seg"/>
          <p:cNvSpPr/>
          <p:nvPr/>
        </p:nvSpPr>
        <p:spPr>
          <a:xfrm>
            <a:off x="1463040" y="2029968"/>
            <a:ext cx="1801155" cy="0"/>
          </a:xfrm>
          <a:prstGeom prst="line">
            <a:avLst/>
          </a:prstGeom>
          <a:noFill/>
          <a:ln w="57150">
            <a:solidFill>
              <a:srgbClr val="A61B29"/>
            </a:solidFill>
            <a:prstDash val="solid"/>
          </a:ln>
        </p:spPr>
      </p:sp>
      <p:sp>
        <p:nvSpPr>
          <p:cNvPr id="22" name="seg"/>
          <p:cNvSpPr/>
          <p:nvPr/>
        </p:nvSpPr>
        <p:spPr>
          <a:xfrm>
            <a:off x="3264195" y="2029968"/>
            <a:ext cx="982448" cy="0"/>
          </a:xfrm>
          <a:prstGeom prst="line">
            <a:avLst/>
          </a:prstGeom>
          <a:noFill/>
          <a:ln w="57150">
            <a:solidFill>
              <a:srgbClr val="A61B29"/>
            </a:solidFill>
            <a:prstDash val="sysDot"/>
          </a:ln>
        </p:spPr>
      </p:sp>
      <p:sp>
        <p:nvSpPr>
          <p:cNvPr id="23" name="seg"/>
          <p:cNvSpPr/>
          <p:nvPr/>
        </p:nvSpPr>
        <p:spPr>
          <a:xfrm>
            <a:off x="4246644" y="2029968"/>
            <a:ext cx="982448" cy="0"/>
          </a:xfrm>
          <a:prstGeom prst="line">
            <a:avLst/>
          </a:prstGeom>
          <a:noFill/>
          <a:ln w="57150">
            <a:solidFill>
              <a:srgbClr val="DEDAD4"/>
            </a:solidFill>
            <a:prstDash val="solid"/>
          </a:ln>
        </p:spPr>
      </p:sp>
      <p:sp>
        <p:nvSpPr>
          <p:cNvPr id="24" name="node"/>
          <p:cNvSpPr/>
          <p:nvPr/>
        </p:nvSpPr>
        <p:spPr>
          <a:xfrm>
            <a:off x="3209331" y="1975104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61B29"/>
            </a:solidFill>
            <a:prstDash val="solid"/>
          </a:ln>
        </p:spPr>
      </p:sp>
      <p:sp>
        <p:nvSpPr>
          <p:cNvPr id="25" name="node"/>
          <p:cNvSpPr/>
          <p:nvPr/>
        </p:nvSpPr>
        <p:spPr>
          <a:xfrm>
            <a:off x="5174228" y="1975104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61B2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49795" y="20939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A61B29"/>
                </a:solidFill>
              </a:rPr>
              <a:t>计划 09-04 已逾期</a:t>
            </a:r>
            <a:endParaRPr lang="en-US" sz="840" dirty="0"/>
          </a:p>
        </p:txBody>
      </p:sp>
      <p:sp>
        <p:nvSpPr>
          <p:cNvPr id="27" name="Text 25"/>
          <p:cNvSpPr txBox="1"/>
          <p:nvPr/>
        </p:nvSpPr>
        <p:spPr>
          <a:xfrm>
            <a:off x="5320532" y="1938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57544F"/>
                </a:solidFill>
              </a:rPr>
              <a:t>新 T1 试模 09-16</a:t>
            </a:r>
            <a:endParaRPr lang="en-US" sz="84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24871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98" b="1" dirty="0">
                <a:solidFill>
                  <a:srgbClr val="111111"/>
                </a:solidFill>
              </a:rPr>
              <a:t>M-2319</a:t>
            </a:r>
            <a:endParaRPr lang="en-US" sz="998" dirty="0"/>
          </a:p>
        </p:txBody>
      </p:sp>
      <p:sp>
        <p:nvSpPr>
          <p:cNvPr id="29" name="seg"/>
          <p:cNvSpPr/>
          <p:nvPr/>
        </p:nvSpPr>
        <p:spPr>
          <a:xfrm>
            <a:off x="1463040" y="2578608"/>
            <a:ext cx="2783604" cy="0"/>
          </a:xfrm>
          <a:prstGeom prst="line">
            <a:avLst/>
          </a:prstGeom>
          <a:noFill/>
          <a:ln w="57150">
            <a:solidFill>
              <a:srgbClr val="9C6510"/>
            </a:solidFill>
            <a:prstDash val="solid"/>
          </a:ln>
        </p:spPr>
      </p:sp>
      <p:sp>
        <p:nvSpPr>
          <p:cNvPr id="30" name="seg"/>
          <p:cNvSpPr/>
          <p:nvPr/>
        </p:nvSpPr>
        <p:spPr>
          <a:xfrm>
            <a:off x="4246644" y="2578608"/>
            <a:ext cx="654966" cy="0"/>
          </a:xfrm>
          <a:prstGeom prst="line">
            <a:avLst/>
          </a:prstGeom>
          <a:noFill/>
          <a:ln w="57150">
            <a:solidFill>
              <a:srgbClr val="DEDAD4"/>
            </a:solidFill>
            <a:prstDash val="solid"/>
          </a:ln>
        </p:spPr>
      </p:sp>
      <p:sp>
        <p:nvSpPr>
          <p:cNvPr id="31" name="node"/>
          <p:cNvSpPr/>
          <p:nvPr/>
        </p:nvSpPr>
        <p:spPr>
          <a:xfrm>
            <a:off x="4846745" y="2523744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C651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93049" y="24871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57544F"/>
                </a:solidFill>
              </a:rPr>
              <a:t>钢料到货 09-14</a:t>
            </a:r>
            <a:endParaRPr lang="en-US" sz="84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0358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98" b="1" dirty="0">
                <a:solidFill>
                  <a:srgbClr val="111111"/>
                </a:solidFill>
              </a:rPr>
              <a:t>M-2311</a:t>
            </a:r>
            <a:endParaRPr lang="en-US" sz="998" dirty="0"/>
          </a:p>
        </p:txBody>
      </p:sp>
      <p:sp>
        <p:nvSpPr>
          <p:cNvPr id="34" name="seg"/>
          <p:cNvSpPr/>
          <p:nvPr/>
        </p:nvSpPr>
        <p:spPr>
          <a:xfrm>
            <a:off x="1463040" y="3127248"/>
            <a:ext cx="2783604" cy="0"/>
          </a:xfrm>
          <a:prstGeom prst="line">
            <a:avLst/>
          </a:prstGeom>
          <a:noFill/>
          <a:ln w="57150">
            <a:solidFill>
              <a:srgbClr val="2C6E49"/>
            </a:solidFill>
            <a:prstDash val="solid"/>
          </a:ln>
        </p:spPr>
      </p:sp>
      <p:sp>
        <p:nvSpPr>
          <p:cNvPr id="35" name="seg"/>
          <p:cNvSpPr/>
          <p:nvPr/>
        </p:nvSpPr>
        <p:spPr>
          <a:xfrm>
            <a:off x="4246644" y="3127248"/>
            <a:ext cx="2292380" cy="0"/>
          </a:xfrm>
          <a:prstGeom prst="line">
            <a:avLst/>
          </a:prstGeom>
          <a:noFill/>
          <a:ln w="57150">
            <a:solidFill>
              <a:srgbClr val="DEDAD4"/>
            </a:solidFill>
            <a:prstDash val="solid"/>
          </a:ln>
        </p:spPr>
      </p:sp>
      <p:sp>
        <p:nvSpPr>
          <p:cNvPr id="36" name="node"/>
          <p:cNvSpPr/>
          <p:nvPr/>
        </p:nvSpPr>
        <p:spPr>
          <a:xfrm>
            <a:off x="6484159" y="3072384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6E4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30463" y="30358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57544F"/>
                </a:solidFill>
              </a:rPr>
              <a:t>T0 试模 09-24</a:t>
            </a:r>
            <a:endParaRPr lang="en-US" sz="84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3584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98" b="1" dirty="0">
                <a:solidFill>
                  <a:srgbClr val="111111"/>
                </a:solidFill>
              </a:rPr>
              <a:t>M-2315</a:t>
            </a:r>
            <a:endParaRPr lang="en-US" sz="998" dirty="0"/>
          </a:p>
        </p:txBody>
      </p:sp>
      <p:sp>
        <p:nvSpPr>
          <p:cNvPr id="39" name="seg"/>
          <p:cNvSpPr/>
          <p:nvPr/>
        </p:nvSpPr>
        <p:spPr>
          <a:xfrm>
            <a:off x="1463040" y="3675888"/>
            <a:ext cx="2783604" cy="0"/>
          </a:xfrm>
          <a:prstGeom prst="line">
            <a:avLst/>
          </a:prstGeom>
          <a:noFill/>
          <a:ln w="57150">
            <a:solidFill>
              <a:srgbClr val="2C6E49"/>
            </a:solidFill>
            <a:prstDash val="solid"/>
          </a:ln>
        </p:spPr>
      </p:sp>
      <p:sp>
        <p:nvSpPr>
          <p:cNvPr id="40" name="seg"/>
          <p:cNvSpPr/>
          <p:nvPr/>
        </p:nvSpPr>
        <p:spPr>
          <a:xfrm>
            <a:off x="4246644" y="3675888"/>
            <a:ext cx="1309931" cy="0"/>
          </a:xfrm>
          <a:prstGeom prst="line">
            <a:avLst/>
          </a:prstGeom>
          <a:noFill/>
          <a:ln w="57150">
            <a:solidFill>
              <a:srgbClr val="DEDAD4"/>
            </a:solidFill>
            <a:prstDash val="solid"/>
          </a:ln>
        </p:spPr>
      </p:sp>
      <p:sp>
        <p:nvSpPr>
          <p:cNvPr id="41" name="node"/>
          <p:cNvSpPr/>
          <p:nvPr/>
        </p:nvSpPr>
        <p:spPr>
          <a:xfrm>
            <a:off x="5501711" y="3621024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6E4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48015" y="35844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57544F"/>
                </a:solidFill>
              </a:rPr>
              <a:t>设计冻结 09-18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8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本周动了三件事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7544F"/>
                </a:solidFill>
              </a:rPr>
              <a:t>与第 36 周比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M-2308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618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T1 试模日期：09-04 → 09-16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6184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61B29"/>
                </a:solidFill>
              </a:rPr>
              <a:t>推迟 12 天</a:t>
            </a:r>
            <a:endParaRPr lang="en-US" sz="1300" dirty="0"/>
          </a:p>
        </p:txBody>
      </p:sp>
      <p:sp>
        <p:nvSpPr>
          <p:cNvPr id="7" name="rule"/>
          <p:cNvSpPr/>
          <p:nvPr/>
        </p:nvSpPr>
        <p:spPr>
          <a:xfrm>
            <a:off x="457200" y="2121408"/>
            <a:ext cx="8229600" cy="0"/>
          </a:xfrm>
          <a:prstGeom prst="line">
            <a:avLst/>
          </a:prstGeom>
          <a:noFill/>
          <a:ln w="9525">
            <a:solidFill>
              <a:srgbClr val="DEDA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423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M-2311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4871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型腔加工完成率：40% → 65%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487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+25 个百分点</a:t>
            </a:r>
            <a:endParaRPr lang="en-US" sz="1300" dirty="0"/>
          </a:p>
        </p:txBody>
      </p:sp>
      <p:sp>
        <p:nvSpPr>
          <p:cNvPr id="11" name="rule"/>
          <p:cNvSpPr/>
          <p:nvPr/>
        </p:nvSpPr>
        <p:spPr>
          <a:xfrm>
            <a:off x="457200" y="2990088"/>
            <a:ext cx="8229600" cy="0"/>
          </a:xfrm>
          <a:prstGeom prst="line">
            <a:avLst/>
          </a:prstGeom>
          <a:noFill/>
          <a:ln w="9525">
            <a:solidFill>
              <a:srgbClr val="DEDA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M-2315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355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设计评审完成：计划 09-12 → 实际 09-10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355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6E49"/>
                </a:solidFill>
              </a:rPr>
              <a:t>提前 2 天</a:t>
            </a:r>
            <a:endParaRPr lang="en-US" sz="1300" dirty="0"/>
          </a:p>
        </p:txBody>
      </p:sp>
      <p:sp>
        <p:nvSpPr>
          <p:cNvPr id="15" name="rule"/>
          <p:cNvSpPr/>
          <p:nvPr/>
        </p:nvSpPr>
        <p:spPr>
          <a:xfrm>
            <a:off x="457200" y="3858768"/>
            <a:ext cx="8229600" cy="0"/>
          </a:xfrm>
          <a:prstGeom prst="line">
            <a:avLst/>
          </a:prstGeom>
          <a:noFill/>
          <a:ln w="9525">
            <a:solidFill>
              <a:srgbClr val="DEDAD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8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下周要看的三个日期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7544F"/>
                </a:solidFill>
              </a:rPr>
              <a:t>按先后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09-11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645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采购部跟催 M-2319 钢料发货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23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A61B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09-15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采购部确认 M-2308 电极外协排产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91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09-18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M-2315 设计冻结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8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a-press">
  <a:themeElements>
    <a:clrScheme name="diva-press">
      <a:dk1>
        <a:srgbClr val="111111"/>
      </a:dk1>
      <a:lt1>
        <a:srgbClr val="FFFFFF"/>
      </a:lt1>
      <a:dk2>
        <a:srgbClr val="57544F"/>
      </a:dk2>
      <a:lt2>
        <a:srgbClr val="F6F5F3"/>
      </a:lt2>
      <a:accent1>
        <a:srgbClr val="A61B29"/>
      </a:accent1>
      <a:accent2>
        <a:srgbClr val="2C6E49"/>
      </a:accent2>
      <a:accent3>
        <a:srgbClr val="9C6510"/>
      </a:accent3>
      <a:accent4>
        <a:srgbClr val="A61B29"/>
      </a:accent4>
      <a:accent5>
        <a:srgbClr val="8D8880"/>
      </a:accent5>
      <a:accent6>
        <a:srgbClr val="DEDAD4"/>
      </a:accent6>
      <a:hlink>
        <a:srgbClr val="A61B29"/>
      </a:hlink>
      <a:folHlink>
        <a:srgbClr val="57544F"/>
      </a:folHlink>
    </a:clrScheme>
    <a:fontScheme name="diva-press">
      <a:majorFont>
        <a:latin typeface="SimSu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注塑模具开发周报 · 第 37 周</dc:title>
  <dc:subject>PptxGenJS Presentation</dc:subject>
  <dc:creator>diva-report-skill 示例</dc:creator>
  <cp:lastModifiedBy>diva-report-skill 示例</cp:lastModifiedBy>
  <cp:revision>1</cp:revision>
  <dcterms:created xsi:type="dcterms:W3CDTF">2026-10-08T08:59:17Z</dcterms:created>
  <dcterms:modified xsi:type="dcterms:W3CDTF">2026-10-08T08:59:17Z</dcterms:modified>
</cp:coreProperties>
</file>