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4181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828800"/>
            <a:ext cx="74980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600"/>
              </a:spcAft>
              <a:buNone/>
              <a:defRPr lang="en-US" sz="1700" dirty="0">
                <a:solidFill>
                  <a:srgbClr val="14181F"/>
                </a:solidFill>
              </a:defRPr>
            </a:lvl1pPr>
          </a:lstStyle>
          <a:p>
            <a:pPr indent="0" marL="0">
              <a:spcAft>
                <a:spcPts val="600"/>
              </a:spcAft>
              <a:buNone/>
            </a:pPr>
            <a:endParaRPr lang="en-US" sz="17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828B98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5" name="Text 0"/>
          <p:cNvSpPr txBox="1"/>
          <p:nvPr/>
        </p:nvSpPr>
        <p:spPr>
          <a:xfrm>
            <a:off x="457200" y="475488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8B98"/>
                </a:solidFill>
              </a:rPr>
              <a:t>注塑模具开发周报 · 第 37 周　　示例数据，全部虚构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4181F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8B98"/>
                </a:solidFill>
              </a:rPr>
              <a:t>注塑模具开发周报 · 第 37 周　　示例数据，全部虚构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28B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28B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注塑模具开发周报 · 第 37 周</a:t>
            </a:r>
            <a:endParaRPr lang="en-US" sz="2200" dirty="0"/>
          </a:p>
        </p:txBody>
      </p:sp>
      <p:graphicFrame>
        <p:nvGraphicFramePr>
          <p:cNvPr id="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69494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值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3/4 在计划内；M-2308 延期 6 天，T1 09-04 → 09-16；待采购部 09-15 前确认电极外协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生成时间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2026-09-11 14:20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数据截止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2026-09-10 18:00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范围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套在制模具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36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28B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对象状态表</a:t>
            </a:r>
            <a:endParaRPr lang="en-US" sz="2200" dirty="0"/>
          </a:p>
        </p:txBody>
      </p:sp>
      <p:graphicFrame>
        <p:nvGraphicFramePr>
          <p:cNvPr id="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280160"/>
                <a:gridCol w="1005840"/>
                <a:gridCol w="640080"/>
                <a:gridCol w="914400"/>
                <a:gridCol w="914400"/>
                <a:gridCol w="1005840"/>
                <a:gridCol w="16459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当前阶段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偏差（天）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计划日期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预计/实际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下一节点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M-2308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前保险杠格栅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T1 试模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A81F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异常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A8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09-04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09-16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T1 试模 09-16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M-2319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后视镜壳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钢料采购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A96A1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注意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钢料到货 09-14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M-2311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仪表板骨架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型腔加工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F7A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正常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T0 试模 09-24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M-2315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门内饰板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设计评审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F7A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正常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设计冻结 09-18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108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28B98"/>
                </a:solidFill>
              </a:rPr>
              <a:t>偏差 = 预计 − 计划，负数为延期。异常行整行标出。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28B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进度时间线</a:t>
            </a:r>
            <a:endParaRPr lang="en-US" sz="2200" dirty="0"/>
          </a:p>
        </p:txBody>
      </p:sp>
      <p:sp>
        <p:nvSpPr>
          <p:cNvPr id="3" name="g"/>
          <p:cNvSpPr/>
          <p:nvPr/>
        </p:nvSpPr>
        <p:spPr>
          <a:xfrm>
            <a:off x="457200" y="914400"/>
            <a:ext cx="0" cy="365760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4" name="g"/>
          <p:cNvSpPr/>
          <p:nvPr/>
        </p:nvSpPr>
        <p:spPr>
          <a:xfrm>
            <a:off x="685800" y="914400"/>
            <a:ext cx="0" cy="365760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5" name="g"/>
          <p:cNvSpPr/>
          <p:nvPr/>
        </p:nvSpPr>
        <p:spPr>
          <a:xfrm>
            <a:off x="914400" y="914400"/>
            <a:ext cx="0" cy="365760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6" name="g"/>
          <p:cNvSpPr/>
          <p:nvPr/>
        </p:nvSpPr>
        <p:spPr>
          <a:xfrm>
            <a:off x="1143000" y="914400"/>
            <a:ext cx="0" cy="365760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7" name="g"/>
          <p:cNvSpPr/>
          <p:nvPr/>
        </p:nvSpPr>
        <p:spPr>
          <a:xfrm>
            <a:off x="1371600" y="914400"/>
            <a:ext cx="0" cy="365760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8" name="g"/>
          <p:cNvSpPr/>
          <p:nvPr/>
        </p:nvSpPr>
        <p:spPr>
          <a:xfrm>
            <a:off x="1600200" y="914400"/>
            <a:ext cx="0" cy="365760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9" name="g"/>
          <p:cNvSpPr/>
          <p:nvPr/>
        </p:nvSpPr>
        <p:spPr>
          <a:xfrm>
            <a:off x="1828800" y="914400"/>
            <a:ext cx="0" cy="365760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10" name="g"/>
          <p:cNvSpPr/>
          <p:nvPr/>
        </p:nvSpPr>
        <p:spPr>
          <a:xfrm>
            <a:off x="2057400" y="914400"/>
            <a:ext cx="0" cy="365760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11" name="g"/>
          <p:cNvSpPr/>
          <p:nvPr/>
        </p:nvSpPr>
        <p:spPr>
          <a:xfrm>
            <a:off x="2286000" y="914400"/>
            <a:ext cx="0" cy="365760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12" name="g"/>
          <p:cNvSpPr/>
          <p:nvPr/>
        </p:nvSpPr>
        <p:spPr>
          <a:xfrm>
            <a:off x="2514600" y="914400"/>
            <a:ext cx="0" cy="365760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13" name="g"/>
          <p:cNvSpPr/>
          <p:nvPr/>
        </p:nvSpPr>
        <p:spPr>
          <a:xfrm>
            <a:off x="2743200" y="914400"/>
            <a:ext cx="0" cy="365760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14" name="g"/>
          <p:cNvSpPr/>
          <p:nvPr/>
        </p:nvSpPr>
        <p:spPr>
          <a:xfrm>
            <a:off x="2971800" y="914400"/>
            <a:ext cx="0" cy="365760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15" name="g"/>
          <p:cNvSpPr/>
          <p:nvPr/>
        </p:nvSpPr>
        <p:spPr>
          <a:xfrm>
            <a:off x="3200400" y="914400"/>
            <a:ext cx="0" cy="365760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16" name="g"/>
          <p:cNvSpPr/>
          <p:nvPr/>
        </p:nvSpPr>
        <p:spPr>
          <a:xfrm>
            <a:off x="3429000" y="914400"/>
            <a:ext cx="0" cy="365760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17" name="g"/>
          <p:cNvSpPr/>
          <p:nvPr/>
        </p:nvSpPr>
        <p:spPr>
          <a:xfrm>
            <a:off x="3657600" y="914400"/>
            <a:ext cx="0" cy="365760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18" name="g"/>
          <p:cNvSpPr/>
          <p:nvPr/>
        </p:nvSpPr>
        <p:spPr>
          <a:xfrm>
            <a:off x="3886200" y="914400"/>
            <a:ext cx="0" cy="365760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19" name="g"/>
          <p:cNvSpPr/>
          <p:nvPr/>
        </p:nvSpPr>
        <p:spPr>
          <a:xfrm>
            <a:off x="4114800" y="914400"/>
            <a:ext cx="0" cy="365760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20" name="g"/>
          <p:cNvSpPr/>
          <p:nvPr/>
        </p:nvSpPr>
        <p:spPr>
          <a:xfrm>
            <a:off x="4343400" y="914400"/>
            <a:ext cx="0" cy="365760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21" name="g"/>
          <p:cNvSpPr/>
          <p:nvPr/>
        </p:nvSpPr>
        <p:spPr>
          <a:xfrm>
            <a:off x="4572000" y="914400"/>
            <a:ext cx="0" cy="365760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22" name="g"/>
          <p:cNvSpPr/>
          <p:nvPr/>
        </p:nvSpPr>
        <p:spPr>
          <a:xfrm>
            <a:off x="4800600" y="914400"/>
            <a:ext cx="0" cy="365760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23" name="g"/>
          <p:cNvSpPr/>
          <p:nvPr/>
        </p:nvSpPr>
        <p:spPr>
          <a:xfrm>
            <a:off x="5029200" y="914400"/>
            <a:ext cx="0" cy="365760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24" name="g"/>
          <p:cNvSpPr/>
          <p:nvPr/>
        </p:nvSpPr>
        <p:spPr>
          <a:xfrm>
            <a:off x="5257800" y="914400"/>
            <a:ext cx="0" cy="365760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25" name="g"/>
          <p:cNvSpPr/>
          <p:nvPr/>
        </p:nvSpPr>
        <p:spPr>
          <a:xfrm>
            <a:off x="5486400" y="914400"/>
            <a:ext cx="0" cy="365760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26" name="g"/>
          <p:cNvSpPr/>
          <p:nvPr/>
        </p:nvSpPr>
        <p:spPr>
          <a:xfrm>
            <a:off x="5715000" y="914400"/>
            <a:ext cx="0" cy="365760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27" name="g"/>
          <p:cNvSpPr/>
          <p:nvPr/>
        </p:nvSpPr>
        <p:spPr>
          <a:xfrm>
            <a:off x="5943600" y="914400"/>
            <a:ext cx="0" cy="365760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28" name="g"/>
          <p:cNvSpPr/>
          <p:nvPr/>
        </p:nvSpPr>
        <p:spPr>
          <a:xfrm>
            <a:off x="6172200" y="914400"/>
            <a:ext cx="0" cy="365760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29" name="g"/>
          <p:cNvSpPr/>
          <p:nvPr/>
        </p:nvSpPr>
        <p:spPr>
          <a:xfrm>
            <a:off x="6400800" y="914400"/>
            <a:ext cx="0" cy="365760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30" name="g"/>
          <p:cNvSpPr/>
          <p:nvPr/>
        </p:nvSpPr>
        <p:spPr>
          <a:xfrm>
            <a:off x="6629400" y="914400"/>
            <a:ext cx="0" cy="365760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31" name="g"/>
          <p:cNvSpPr/>
          <p:nvPr/>
        </p:nvSpPr>
        <p:spPr>
          <a:xfrm>
            <a:off x="6858000" y="914400"/>
            <a:ext cx="0" cy="365760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32" name="g"/>
          <p:cNvSpPr/>
          <p:nvPr/>
        </p:nvSpPr>
        <p:spPr>
          <a:xfrm>
            <a:off x="7086600" y="914400"/>
            <a:ext cx="0" cy="365760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33" name="g"/>
          <p:cNvSpPr/>
          <p:nvPr/>
        </p:nvSpPr>
        <p:spPr>
          <a:xfrm>
            <a:off x="7315200" y="914400"/>
            <a:ext cx="0" cy="365760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34" name="g"/>
          <p:cNvSpPr/>
          <p:nvPr/>
        </p:nvSpPr>
        <p:spPr>
          <a:xfrm>
            <a:off x="7543800" y="914400"/>
            <a:ext cx="0" cy="365760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35" name="g"/>
          <p:cNvSpPr/>
          <p:nvPr/>
        </p:nvSpPr>
        <p:spPr>
          <a:xfrm>
            <a:off x="7772400" y="914400"/>
            <a:ext cx="0" cy="365760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36" name="g"/>
          <p:cNvSpPr/>
          <p:nvPr/>
        </p:nvSpPr>
        <p:spPr>
          <a:xfrm>
            <a:off x="8001000" y="914400"/>
            <a:ext cx="0" cy="365760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37" name="g"/>
          <p:cNvSpPr/>
          <p:nvPr/>
        </p:nvSpPr>
        <p:spPr>
          <a:xfrm>
            <a:off x="8229600" y="914400"/>
            <a:ext cx="0" cy="365760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38" name="g"/>
          <p:cNvSpPr/>
          <p:nvPr/>
        </p:nvSpPr>
        <p:spPr>
          <a:xfrm>
            <a:off x="8458200" y="914400"/>
            <a:ext cx="0" cy="365760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39" name="g"/>
          <p:cNvSpPr/>
          <p:nvPr/>
        </p:nvSpPr>
        <p:spPr>
          <a:xfrm>
            <a:off x="8686800" y="914400"/>
            <a:ext cx="0" cy="365760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40" name="g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41" name="g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42" name="g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43" name="g"/>
          <p:cNvSpPr/>
          <p:nvPr/>
        </p:nvSpPr>
        <p:spPr>
          <a:xfrm>
            <a:off x="457200" y="1600200"/>
            <a:ext cx="8229600" cy="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44" name="g"/>
          <p:cNvSpPr/>
          <p:nvPr/>
        </p:nvSpPr>
        <p:spPr>
          <a:xfrm>
            <a:off x="457200" y="1828800"/>
            <a:ext cx="8229600" cy="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45" name="g"/>
          <p:cNvSpPr/>
          <p:nvPr/>
        </p:nvSpPr>
        <p:spPr>
          <a:xfrm>
            <a:off x="457200" y="2057400"/>
            <a:ext cx="8229600" cy="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46" name="g"/>
          <p:cNvSpPr/>
          <p:nvPr/>
        </p:nvSpPr>
        <p:spPr>
          <a:xfrm>
            <a:off x="457200" y="2286000"/>
            <a:ext cx="8229600" cy="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47" name="g"/>
          <p:cNvSpPr/>
          <p:nvPr/>
        </p:nvSpPr>
        <p:spPr>
          <a:xfrm>
            <a:off x="457200" y="2514600"/>
            <a:ext cx="8229600" cy="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48" name="g"/>
          <p:cNvSpPr/>
          <p:nvPr/>
        </p:nvSpPr>
        <p:spPr>
          <a:xfrm>
            <a:off x="457200" y="2743200"/>
            <a:ext cx="8229600" cy="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49" name="g"/>
          <p:cNvSpPr/>
          <p:nvPr/>
        </p:nvSpPr>
        <p:spPr>
          <a:xfrm>
            <a:off x="457200" y="2971800"/>
            <a:ext cx="8229600" cy="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50" name="g"/>
          <p:cNvSpPr/>
          <p:nvPr/>
        </p:nvSpPr>
        <p:spPr>
          <a:xfrm>
            <a:off x="457200" y="3200400"/>
            <a:ext cx="8229600" cy="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51" name="g"/>
          <p:cNvSpPr/>
          <p:nvPr/>
        </p:nvSpPr>
        <p:spPr>
          <a:xfrm>
            <a:off x="457200" y="3429000"/>
            <a:ext cx="8229600" cy="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52" name="g"/>
          <p:cNvSpPr/>
          <p:nvPr/>
        </p:nvSpPr>
        <p:spPr>
          <a:xfrm>
            <a:off x="457200" y="3657600"/>
            <a:ext cx="8229600" cy="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53" name="g"/>
          <p:cNvSpPr/>
          <p:nvPr/>
        </p:nvSpPr>
        <p:spPr>
          <a:xfrm>
            <a:off x="457200" y="3886200"/>
            <a:ext cx="8229600" cy="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54" name="g"/>
          <p:cNvSpPr/>
          <p:nvPr/>
        </p:nvSpPr>
        <p:spPr>
          <a:xfrm>
            <a:off x="457200" y="4114800"/>
            <a:ext cx="8229600" cy="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55" name="g"/>
          <p:cNvSpPr/>
          <p:nvPr/>
        </p:nvSpPr>
        <p:spPr>
          <a:xfrm>
            <a:off x="457200" y="4343400"/>
            <a:ext cx="8229600" cy="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56" name="g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3175">
            <a:solidFill>
              <a:srgbClr val="DDE3EA"/>
            </a:solidFill>
            <a:prstDash val="solid"/>
          </a:ln>
        </p:spPr>
      </p:sp>
      <p:sp>
        <p:nvSpPr>
          <p:cNvPr id="57" name="grid"/>
          <p:cNvSpPr/>
          <p:nvPr/>
        </p:nvSpPr>
        <p:spPr>
          <a:xfrm>
            <a:off x="1463040" y="1307592"/>
            <a:ext cx="0" cy="2651760"/>
          </a:xfrm>
          <a:prstGeom prst="line">
            <a:avLst/>
          </a:prstGeom>
          <a:noFill/>
          <a:ln w="9525">
            <a:solidFill>
              <a:srgbClr val="DDE3E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097280" y="10515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28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08-24</a:t>
            </a:r>
            <a:endParaRPr lang="en-US" sz="800" dirty="0"/>
          </a:p>
        </p:txBody>
      </p:sp>
      <p:sp>
        <p:nvSpPr>
          <p:cNvPr id="59" name="grid"/>
          <p:cNvSpPr/>
          <p:nvPr/>
        </p:nvSpPr>
        <p:spPr>
          <a:xfrm>
            <a:off x="2609230" y="1307592"/>
            <a:ext cx="0" cy="2651760"/>
          </a:xfrm>
          <a:prstGeom prst="line">
            <a:avLst/>
          </a:prstGeom>
          <a:noFill/>
          <a:ln w="9525">
            <a:solidFill>
              <a:srgbClr val="DDE3EA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2243470" y="10515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28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08-31</a:t>
            </a:r>
            <a:endParaRPr lang="en-US" sz="800" dirty="0"/>
          </a:p>
        </p:txBody>
      </p:sp>
      <p:sp>
        <p:nvSpPr>
          <p:cNvPr id="61" name="grid"/>
          <p:cNvSpPr/>
          <p:nvPr/>
        </p:nvSpPr>
        <p:spPr>
          <a:xfrm>
            <a:off x="3755420" y="1307592"/>
            <a:ext cx="0" cy="2651760"/>
          </a:xfrm>
          <a:prstGeom prst="line">
            <a:avLst/>
          </a:prstGeom>
          <a:noFill/>
          <a:ln w="9525">
            <a:solidFill>
              <a:srgbClr val="DDE3EA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3389660" y="10515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28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09-07</a:t>
            </a:r>
            <a:endParaRPr lang="en-US" sz="800" dirty="0"/>
          </a:p>
        </p:txBody>
      </p:sp>
      <p:sp>
        <p:nvSpPr>
          <p:cNvPr id="63" name="grid"/>
          <p:cNvSpPr/>
          <p:nvPr/>
        </p:nvSpPr>
        <p:spPr>
          <a:xfrm>
            <a:off x="4901609" y="1307592"/>
            <a:ext cx="0" cy="2651760"/>
          </a:xfrm>
          <a:prstGeom prst="line">
            <a:avLst/>
          </a:prstGeom>
          <a:noFill/>
          <a:ln w="9525">
            <a:solidFill>
              <a:srgbClr val="DDE3EA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4535849" y="10515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28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09-14</a:t>
            </a:r>
            <a:endParaRPr lang="en-US" sz="800" dirty="0"/>
          </a:p>
        </p:txBody>
      </p:sp>
      <p:sp>
        <p:nvSpPr>
          <p:cNvPr id="65" name="grid"/>
          <p:cNvSpPr/>
          <p:nvPr/>
        </p:nvSpPr>
        <p:spPr>
          <a:xfrm>
            <a:off x="6047799" y="1307592"/>
            <a:ext cx="0" cy="2651760"/>
          </a:xfrm>
          <a:prstGeom prst="line">
            <a:avLst/>
          </a:prstGeom>
          <a:noFill/>
          <a:ln w="9525">
            <a:solidFill>
              <a:srgbClr val="DDE3EA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682039" y="10515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28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09-21</a:t>
            </a:r>
            <a:endParaRPr lang="en-US" sz="800" dirty="0"/>
          </a:p>
        </p:txBody>
      </p:sp>
      <p:sp>
        <p:nvSpPr>
          <p:cNvPr id="67" name="grid"/>
          <p:cNvSpPr/>
          <p:nvPr/>
        </p:nvSpPr>
        <p:spPr>
          <a:xfrm>
            <a:off x="7193989" y="1307592"/>
            <a:ext cx="0" cy="2651760"/>
          </a:xfrm>
          <a:prstGeom prst="line">
            <a:avLst/>
          </a:prstGeom>
          <a:noFill/>
          <a:ln w="9525">
            <a:solidFill>
              <a:srgbClr val="DDE3EA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6828229" y="10515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28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09-28</a:t>
            </a:r>
            <a:endParaRPr lang="en-US" sz="800" dirty="0"/>
          </a:p>
        </p:txBody>
      </p:sp>
      <p:sp>
        <p:nvSpPr>
          <p:cNvPr id="69" name="grid"/>
          <p:cNvSpPr/>
          <p:nvPr/>
        </p:nvSpPr>
        <p:spPr>
          <a:xfrm>
            <a:off x="8503920" y="1307592"/>
            <a:ext cx="0" cy="2651760"/>
          </a:xfrm>
          <a:prstGeom prst="line">
            <a:avLst/>
          </a:prstGeom>
          <a:noFill/>
          <a:ln w="9525">
            <a:solidFill>
              <a:srgbClr val="DDE3EA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8138160" y="10515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28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10-05</a:t>
            </a:r>
            <a:endParaRPr lang="en-US" sz="800" dirty="0"/>
          </a:p>
        </p:txBody>
      </p:sp>
      <p:sp>
        <p:nvSpPr>
          <p:cNvPr id="71" name="today"/>
          <p:cNvSpPr/>
          <p:nvPr/>
        </p:nvSpPr>
        <p:spPr>
          <a:xfrm>
            <a:off x="4246644" y="1252728"/>
            <a:ext cx="0" cy="2743200"/>
          </a:xfrm>
          <a:prstGeom prst="line">
            <a:avLst/>
          </a:prstGeom>
          <a:noFill/>
          <a:ln w="19050">
            <a:solidFill>
              <a:srgbClr val="0B6E99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4292364" y="12344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B6E99"/>
                </a:solidFill>
              </a:rPr>
              <a:t>今天 09-10</a:t>
            </a:r>
            <a:endParaRPr lang="en-US" sz="800" dirty="0"/>
          </a:p>
        </p:txBody>
      </p:sp>
      <p:sp>
        <p:nvSpPr>
          <p:cNvPr id="73" name="Text 71"/>
          <p:cNvSpPr txBox="1"/>
          <p:nvPr/>
        </p:nvSpPr>
        <p:spPr>
          <a:xfrm>
            <a:off x="548640" y="15270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4181F"/>
                </a:solidFill>
              </a:rPr>
              <a:t>M-2308</a:t>
            </a:r>
            <a:endParaRPr lang="en-US" sz="950" dirty="0"/>
          </a:p>
        </p:txBody>
      </p:sp>
      <p:sp>
        <p:nvSpPr>
          <p:cNvPr id="74" name="seg"/>
          <p:cNvSpPr/>
          <p:nvPr/>
        </p:nvSpPr>
        <p:spPr>
          <a:xfrm>
            <a:off x="1463040" y="1618488"/>
            <a:ext cx="1801155" cy="0"/>
          </a:xfrm>
          <a:prstGeom prst="line">
            <a:avLst/>
          </a:prstGeom>
          <a:noFill/>
          <a:ln w="50800">
            <a:solidFill>
              <a:srgbClr val="A81F1F"/>
            </a:solidFill>
            <a:prstDash val="solid"/>
          </a:ln>
        </p:spPr>
      </p:sp>
      <p:sp>
        <p:nvSpPr>
          <p:cNvPr id="75" name="seg"/>
          <p:cNvSpPr/>
          <p:nvPr/>
        </p:nvSpPr>
        <p:spPr>
          <a:xfrm>
            <a:off x="3264195" y="1618488"/>
            <a:ext cx="982448" cy="0"/>
          </a:xfrm>
          <a:prstGeom prst="line">
            <a:avLst/>
          </a:prstGeom>
          <a:noFill/>
          <a:ln w="50800">
            <a:solidFill>
              <a:srgbClr val="A81F1F"/>
            </a:solidFill>
            <a:prstDash val="sysDot"/>
          </a:ln>
        </p:spPr>
      </p:sp>
      <p:sp>
        <p:nvSpPr>
          <p:cNvPr id="76" name="seg"/>
          <p:cNvSpPr/>
          <p:nvPr/>
        </p:nvSpPr>
        <p:spPr>
          <a:xfrm>
            <a:off x="4246644" y="1618488"/>
            <a:ext cx="982448" cy="0"/>
          </a:xfrm>
          <a:prstGeom prst="line">
            <a:avLst/>
          </a:prstGeom>
          <a:noFill/>
          <a:ln w="50800">
            <a:solidFill>
              <a:srgbClr val="DDE3EA"/>
            </a:solidFill>
            <a:prstDash val="solid"/>
          </a:ln>
        </p:spPr>
      </p:sp>
      <p:sp>
        <p:nvSpPr>
          <p:cNvPr id="77" name="node"/>
          <p:cNvSpPr/>
          <p:nvPr/>
        </p:nvSpPr>
        <p:spPr>
          <a:xfrm>
            <a:off x="3209331" y="1563624"/>
            <a:ext cx="109728" cy="109728"/>
          </a:xfrm>
          <a:prstGeom prst="ellipse">
            <a:avLst/>
          </a:prstGeom>
          <a:solidFill>
            <a:srgbClr val="F7F8FA"/>
          </a:solidFill>
          <a:ln w="19050">
            <a:solidFill>
              <a:srgbClr val="A81F1F"/>
            </a:solidFill>
            <a:prstDash val="solid"/>
          </a:ln>
        </p:spPr>
      </p:sp>
      <p:sp>
        <p:nvSpPr>
          <p:cNvPr id="78" name="node"/>
          <p:cNvSpPr/>
          <p:nvPr/>
        </p:nvSpPr>
        <p:spPr>
          <a:xfrm>
            <a:off x="5174228" y="1563624"/>
            <a:ext cx="109728" cy="109728"/>
          </a:xfrm>
          <a:prstGeom prst="ellipse">
            <a:avLst/>
          </a:prstGeom>
          <a:solidFill>
            <a:srgbClr val="F7F8FA"/>
          </a:solidFill>
          <a:ln w="19050">
            <a:solidFill>
              <a:srgbClr val="A81F1F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2349795" y="16824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1F1F"/>
                </a:solidFill>
              </a:rPr>
              <a:t>计划 09-04 已逾期</a:t>
            </a:r>
            <a:endParaRPr lang="en-US" sz="800" dirty="0"/>
          </a:p>
        </p:txBody>
      </p:sp>
      <p:sp>
        <p:nvSpPr>
          <p:cNvPr id="80" name="Text 78"/>
          <p:cNvSpPr txBox="1"/>
          <p:nvPr/>
        </p:nvSpPr>
        <p:spPr>
          <a:xfrm>
            <a:off x="5320532" y="15270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新 T1 试模 09-16</a:t>
            </a:r>
            <a:endParaRPr lang="en-US" sz="800" dirty="0"/>
          </a:p>
        </p:txBody>
      </p:sp>
      <p:sp>
        <p:nvSpPr>
          <p:cNvPr id="81" name="Text 79"/>
          <p:cNvSpPr txBox="1"/>
          <p:nvPr/>
        </p:nvSpPr>
        <p:spPr>
          <a:xfrm>
            <a:off x="548640" y="216712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4181F"/>
                </a:solidFill>
              </a:rPr>
              <a:t>M-2319</a:t>
            </a:r>
            <a:endParaRPr lang="en-US" sz="950" dirty="0"/>
          </a:p>
        </p:txBody>
      </p:sp>
      <p:sp>
        <p:nvSpPr>
          <p:cNvPr id="82" name="seg"/>
          <p:cNvSpPr/>
          <p:nvPr/>
        </p:nvSpPr>
        <p:spPr>
          <a:xfrm>
            <a:off x="1463040" y="2258568"/>
            <a:ext cx="2783604" cy="0"/>
          </a:xfrm>
          <a:prstGeom prst="line">
            <a:avLst/>
          </a:prstGeom>
          <a:noFill/>
          <a:ln w="50800">
            <a:solidFill>
              <a:srgbClr val="A96A12"/>
            </a:solidFill>
            <a:prstDash val="solid"/>
          </a:ln>
        </p:spPr>
      </p:sp>
      <p:sp>
        <p:nvSpPr>
          <p:cNvPr id="83" name="seg"/>
          <p:cNvSpPr/>
          <p:nvPr/>
        </p:nvSpPr>
        <p:spPr>
          <a:xfrm>
            <a:off x="4246644" y="2258568"/>
            <a:ext cx="654966" cy="0"/>
          </a:xfrm>
          <a:prstGeom prst="line">
            <a:avLst/>
          </a:prstGeom>
          <a:noFill/>
          <a:ln w="50800">
            <a:solidFill>
              <a:srgbClr val="DDE3EA"/>
            </a:solidFill>
            <a:prstDash val="solid"/>
          </a:ln>
        </p:spPr>
      </p:sp>
      <p:sp>
        <p:nvSpPr>
          <p:cNvPr id="84" name="node"/>
          <p:cNvSpPr/>
          <p:nvPr/>
        </p:nvSpPr>
        <p:spPr>
          <a:xfrm>
            <a:off x="4846745" y="2203704"/>
            <a:ext cx="109728" cy="109728"/>
          </a:xfrm>
          <a:prstGeom prst="ellipse">
            <a:avLst/>
          </a:prstGeom>
          <a:solidFill>
            <a:srgbClr val="F7F8FA"/>
          </a:solidFill>
          <a:ln w="19050">
            <a:solidFill>
              <a:srgbClr val="A96A12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4993049" y="21671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钢料到货 09-14</a:t>
            </a:r>
            <a:endParaRPr lang="en-US" sz="800" dirty="0"/>
          </a:p>
        </p:txBody>
      </p:sp>
      <p:sp>
        <p:nvSpPr>
          <p:cNvPr id="86" name="Text 84"/>
          <p:cNvSpPr txBox="1"/>
          <p:nvPr/>
        </p:nvSpPr>
        <p:spPr>
          <a:xfrm>
            <a:off x="548640" y="280720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4181F"/>
                </a:solidFill>
              </a:rPr>
              <a:t>M-2311</a:t>
            </a:r>
            <a:endParaRPr lang="en-US" sz="950" dirty="0"/>
          </a:p>
        </p:txBody>
      </p:sp>
      <p:sp>
        <p:nvSpPr>
          <p:cNvPr id="87" name="seg"/>
          <p:cNvSpPr/>
          <p:nvPr/>
        </p:nvSpPr>
        <p:spPr>
          <a:xfrm>
            <a:off x="1463040" y="2898648"/>
            <a:ext cx="2783604" cy="0"/>
          </a:xfrm>
          <a:prstGeom prst="line">
            <a:avLst/>
          </a:prstGeom>
          <a:noFill/>
          <a:ln w="50800">
            <a:solidFill>
              <a:srgbClr val="2F7A4F"/>
            </a:solidFill>
            <a:prstDash val="solid"/>
          </a:ln>
        </p:spPr>
      </p:sp>
      <p:sp>
        <p:nvSpPr>
          <p:cNvPr id="88" name="seg"/>
          <p:cNvSpPr/>
          <p:nvPr/>
        </p:nvSpPr>
        <p:spPr>
          <a:xfrm>
            <a:off x="4246644" y="2898648"/>
            <a:ext cx="2292380" cy="0"/>
          </a:xfrm>
          <a:prstGeom prst="line">
            <a:avLst/>
          </a:prstGeom>
          <a:noFill/>
          <a:ln w="50800">
            <a:solidFill>
              <a:srgbClr val="DDE3EA"/>
            </a:solidFill>
            <a:prstDash val="solid"/>
          </a:ln>
        </p:spPr>
      </p:sp>
      <p:sp>
        <p:nvSpPr>
          <p:cNvPr id="89" name="node"/>
          <p:cNvSpPr/>
          <p:nvPr/>
        </p:nvSpPr>
        <p:spPr>
          <a:xfrm>
            <a:off x="6484159" y="2843784"/>
            <a:ext cx="109728" cy="109728"/>
          </a:xfrm>
          <a:prstGeom prst="ellipse">
            <a:avLst/>
          </a:prstGeom>
          <a:solidFill>
            <a:srgbClr val="F7F8FA"/>
          </a:solidFill>
          <a:ln w="19050">
            <a:solidFill>
              <a:srgbClr val="2F7A4F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6630463" y="28072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T0 试模 09-24</a:t>
            </a:r>
            <a:endParaRPr lang="en-US" sz="800" dirty="0"/>
          </a:p>
        </p:txBody>
      </p:sp>
      <p:sp>
        <p:nvSpPr>
          <p:cNvPr id="91" name="Text 89"/>
          <p:cNvSpPr txBox="1"/>
          <p:nvPr/>
        </p:nvSpPr>
        <p:spPr>
          <a:xfrm>
            <a:off x="548640" y="34472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4181F"/>
                </a:solidFill>
              </a:rPr>
              <a:t>M-2315</a:t>
            </a:r>
            <a:endParaRPr lang="en-US" sz="950" dirty="0"/>
          </a:p>
        </p:txBody>
      </p:sp>
      <p:sp>
        <p:nvSpPr>
          <p:cNvPr id="92" name="seg"/>
          <p:cNvSpPr/>
          <p:nvPr/>
        </p:nvSpPr>
        <p:spPr>
          <a:xfrm>
            <a:off x="1463040" y="3538728"/>
            <a:ext cx="2783604" cy="0"/>
          </a:xfrm>
          <a:prstGeom prst="line">
            <a:avLst/>
          </a:prstGeom>
          <a:noFill/>
          <a:ln w="50800">
            <a:solidFill>
              <a:srgbClr val="2F7A4F"/>
            </a:solidFill>
            <a:prstDash val="solid"/>
          </a:ln>
        </p:spPr>
      </p:sp>
      <p:sp>
        <p:nvSpPr>
          <p:cNvPr id="93" name="seg"/>
          <p:cNvSpPr/>
          <p:nvPr/>
        </p:nvSpPr>
        <p:spPr>
          <a:xfrm>
            <a:off x="4246644" y="3538728"/>
            <a:ext cx="1309931" cy="0"/>
          </a:xfrm>
          <a:prstGeom prst="line">
            <a:avLst/>
          </a:prstGeom>
          <a:noFill/>
          <a:ln w="50800">
            <a:solidFill>
              <a:srgbClr val="DDE3EA"/>
            </a:solidFill>
            <a:prstDash val="solid"/>
          </a:ln>
        </p:spPr>
      </p:sp>
      <p:sp>
        <p:nvSpPr>
          <p:cNvPr id="94" name="node"/>
          <p:cNvSpPr/>
          <p:nvPr/>
        </p:nvSpPr>
        <p:spPr>
          <a:xfrm>
            <a:off x="5501711" y="3483864"/>
            <a:ext cx="109728" cy="109728"/>
          </a:xfrm>
          <a:prstGeom prst="ellipse">
            <a:avLst/>
          </a:prstGeom>
          <a:solidFill>
            <a:srgbClr val="F7F8FA"/>
          </a:solidFill>
          <a:ln w="19050">
            <a:solidFill>
              <a:srgbClr val="2F7A4F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5648015" y="344728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设计冻结 09-18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28B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异常明细 / 本期变化</a:t>
            </a:r>
            <a:endParaRPr lang="en-US" sz="22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914400"/>
                <a:gridCol w="2926080"/>
                <a:gridCol w="822960"/>
                <a:gridCol w="2103120"/>
                <a:gridCol w="7315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新日期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待谁处理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期限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M-2308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A81F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延期 6 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电极外协厂 09-01 起优先其他客户订单，我方电极排产从 09-02 推到 09-12，型腔 EDM 停工 6 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T1 09-16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采购部确认外协排产；确认不了则模具车间自制电极（+4 天）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09-15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M-2319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A96A1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钢料到货日 09-14，截至 09-10 供应商尚未发出发货通知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采购部跟催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09-11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8036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103120"/>
                <a:gridCol w="1554480"/>
                <a:gridCol w="1554480"/>
                <a:gridCol w="21945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变化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M-2308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T1 试模日期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09-04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09-16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81F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推迟 12 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M-2311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型腔加工完成率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65%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+25 个百分点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M-2315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设计评审完成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 09-12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实际 09-10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7A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提前 2 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M-2319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钢料采购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待到货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待到货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无变化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28B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a-blueprint">
  <a:themeElements>
    <a:clrScheme name="diva-blueprint">
      <a:dk1>
        <a:srgbClr val="14181F"/>
      </a:dk1>
      <a:lt1>
        <a:srgbClr val="F7F8FA"/>
      </a:lt1>
      <a:dk2>
        <a:srgbClr val="4A5568"/>
      </a:dk2>
      <a:lt2>
        <a:srgbClr val="FFFFFF"/>
      </a:lt2>
      <a:accent1>
        <a:srgbClr val="0B6E99"/>
      </a:accent1>
      <a:accent2>
        <a:srgbClr val="2F7A4F"/>
      </a:accent2>
      <a:accent3>
        <a:srgbClr val="A96A12"/>
      </a:accent3>
      <a:accent4>
        <a:srgbClr val="A81F1F"/>
      </a:accent4>
      <a:accent5>
        <a:srgbClr val="828B98"/>
      </a:accent5>
      <a:accent6>
        <a:srgbClr val="DDE3EA"/>
      </a:accent6>
      <a:hlink>
        <a:srgbClr val="0B6E99"/>
      </a:hlink>
      <a:folHlink>
        <a:srgbClr val="4A5568"/>
      </a:folHlink>
    </a:clrScheme>
    <a:fontScheme name="diva-blueprint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注塑模具开发周报 · 第 37 周</dc:title>
  <dc:subject>PptxGenJS Presentation</dc:subject>
  <dc:creator>diva-report-skill 示例</dc:creator>
  <cp:lastModifiedBy>diva-report-skill 示例</cp:lastModifiedBy>
  <cp:revision>1</cp:revision>
  <dcterms:created xsi:type="dcterms:W3CDTF">2026-10-08T09:00:19Z</dcterms:created>
  <dcterms:modified xsi:type="dcterms:W3CDTF">2026-10-08T09:00:19Z</dcterms:modified>
</cp:coreProperties>
</file>