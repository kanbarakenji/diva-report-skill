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C1D1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82880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700" dirty="0">
                <a:solidFill>
                  <a:srgbClr val="1C1D1F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8A9099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0"/>
          <p:cNvSpPr txBox="1"/>
          <p:nvPr/>
        </p:nvSpPr>
        <p:spPr>
          <a:xfrm>
            <a:off x="457200" y="4754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</a:rPr>
              <a:t>注塑模具开发周报 · 第 37 周　　示例数据，全部虚构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C1D1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</a:rPr>
              <a:t>注塑模具开发周报 · 第 37 周　　示例数据，全部虚构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1D1F"/>
                </a:solidFill>
              </a:rPr>
              <a:t>注塑模具开发周报 · 第 37 周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D1F"/>
                </a:solidFill>
              </a:rPr>
              <a:t>4 套在制模具中 3 套在计划内；</a:t>
            </a:r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</a:rPr>
              <a:t>M-2308 延期 6 天</a:t>
            </a:r>
            <a:pPr indent="0" marL="0">
              <a:buNone/>
            </a:pPr>
            <a:r>
              <a:rPr lang="en-US" sz="1400" dirty="0">
                <a:solidFill>
                  <a:srgbClr val="1C1D1F"/>
                </a:solidFill>
              </a:rPr>
              <a:t>，T1 试模由 09-04 改到 09-16，需要采购部在 09-15 前确认电极外协排产。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生成 2026-09-11 14:20　　数据截止 2026-09-10 18:00　　范围 4 套在制模具</a:t>
            </a:r>
            <a:endParaRPr lang="en-US" sz="1000" dirty="0"/>
          </a:p>
        </p:txBody>
      </p:sp>
      <p:sp>
        <p:nvSpPr>
          <p:cNvPr id="5" name="panel-focus"/>
          <p:cNvSpPr/>
          <p:nvPr/>
        </p:nvSpPr>
        <p:spPr>
          <a:xfrm>
            <a:off x="457200" y="2011680"/>
            <a:ext cx="1920240" cy="2103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2F4B7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76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D1F"/>
                </a:solidFill>
              </a:rPr>
              <a:t>M-2308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41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前保险杠格栅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T1 试模</a:t>
            </a:r>
            <a:endParaRPr lang="en-US" sz="1100" dirty="0"/>
          </a:p>
        </p:txBody>
      </p:sp>
      <p:sp>
        <p:nvSpPr>
          <p:cNvPr id="9" name="tag-异常"/>
          <p:cNvSpPr txBox="1"/>
          <p:nvPr/>
        </p:nvSpPr>
        <p:spPr>
          <a:xfrm>
            <a:off x="1463040" y="2743200"/>
            <a:ext cx="566928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261E"/>
                </a:solidFill>
              </a:rPr>
              <a:t>异常</a:t>
            </a:r>
            <a:endParaRPr lang="en-US" sz="1000" dirty="0"/>
          </a:p>
        </p:txBody>
      </p:sp>
      <p:sp>
        <p:nvSpPr>
          <p:cNvPr id="10" name="big-−6"/>
          <p:cNvSpPr txBox="1"/>
          <p:nvPr/>
        </p:nvSpPr>
        <p:spPr>
          <a:xfrm>
            <a:off x="640080" y="3035808"/>
            <a:ext cx="1554480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−6</a:t>
            </a:r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 天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7307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下一节点  T1 试模 09-16</a:t>
            </a:r>
            <a:endParaRPr lang="en-US" sz="1000" dirty="0"/>
          </a:p>
        </p:txBody>
      </p:sp>
      <p:sp>
        <p:nvSpPr>
          <p:cNvPr id="12" name="panel"/>
          <p:cNvSpPr/>
          <p:nvPr/>
        </p:nvSpPr>
        <p:spPr>
          <a:xfrm>
            <a:off x="2560320" y="2011680"/>
            <a:ext cx="1920240" cy="2103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2176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D1F"/>
                </a:solidFill>
              </a:rPr>
              <a:t>M-2319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441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后视镜壳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7432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钢料采购</a:t>
            </a:r>
            <a:endParaRPr lang="en-US" sz="1100" dirty="0"/>
          </a:p>
        </p:txBody>
      </p:sp>
      <p:sp>
        <p:nvSpPr>
          <p:cNvPr id="16" name="tag-注意"/>
          <p:cNvSpPr txBox="1"/>
          <p:nvPr/>
        </p:nvSpPr>
        <p:spPr>
          <a:xfrm>
            <a:off x="3566160" y="2743200"/>
            <a:ext cx="566928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B77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791F"/>
                </a:solidFill>
              </a:rPr>
              <a:t>注意</a:t>
            </a:r>
            <a:endParaRPr lang="en-US" sz="1000" dirty="0"/>
          </a:p>
        </p:txBody>
      </p:sp>
      <p:sp>
        <p:nvSpPr>
          <p:cNvPr id="17" name="big-0"/>
          <p:cNvSpPr txBox="1"/>
          <p:nvPr/>
        </p:nvSpPr>
        <p:spPr>
          <a:xfrm>
            <a:off x="2743200" y="3035808"/>
            <a:ext cx="1554480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C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 天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7307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下一节点  钢料到货 09-14</a:t>
            </a:r>
            <a:endParaRPr lang="en-US" sz="1000" dirty="0"/>
          </a:p>
        </p:txBody>
      </p:sp>
      <p:sp>
        <p:nvSpPr>
          <p:cNvPr id="19" name="panel"/>
          <p:cNvSpPr/>
          <p:nvPr/>
        </p:nvSpPr>
        <p:spPr>
          <a:xfrm>
            <a:off x="4663440" y="2011680"/>
            <a:ext cx="1920240" cy="2103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176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D1F"/>
                </a:solidFill>
              </a:rPr>
              <a:t>M-2311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441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仪表板骨架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7432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型腔加工</a:t>
            </a:r>
            <a:endParaRPr lang="en-US" sz="1100" dirty="0"/>
          </a:p>
        </p:txBody>
      </p:sp>
      <p:sp>
        <p:nvSpPr>
          <p:cNvPr id="23" name="tag-正常"/>
          <p:cNvSpPr txBox="1"/>
          <p:nvPr/>
        </p:nvSpPr>
        <p:spPr>
          <a:xfrm>
            <a:off x="5669280" y="2743200"/>
            <a:ext cx="566928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2E7D5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5B"/>
                </a:solidFill>
              </a:rPr>
              <a:t>正常</a:t>
            </a:r>
            <a:endParaRPr lang="en-US" sz="1000" dirty="0"/>
          </a:p>
        </p:txBody>
      </p:sp>
      <p:sp>
        <p:nvSpPr>
          <p:cNvPr id="24" name="big-0"/>
          <p:cNvSpPr txBox="1"/>
          <p:nvPr/>
        </p:nvSpPr>
        <p:spPr>
          <a:xfrm>
            <a:off x="4846320" y="3035808"/>
            <a:ext cx="1554480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C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 天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7307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下一节点  T0 试模 09-24</a:t>
            </a:r>
            <a:endParaRPr lang="en-US" sz="1000" dirty="0"/>
          </a:p>
        </p:txBody>
      </p:sp>
      <p:sp>
        <p:nvSpPr>
          <p:cNvPr id="26" name="panel"/>
          <p:cNvSpPr/>
          <p:nvPr/>
        </p:nvSpPr>
        <p:spPr>
          <a:xfrm>
            <a:off x="6766560" y="2011680"/>
            <a:ext cx="1920240" cy="2103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49440" y="2176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D1F"/>
                </a:solidFill>
              </a:rPr>
              <a:t>M-2315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2441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门内饰板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27432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设计评审</a:t>
            </a:r>
            <a:endParaRPr lang="en-US" sz="1100" dirty="0"/>
          </a:p>
        </p:txBody>
      </p:sp>
      <p:sp>
        <p:nvSpPr>
          <p:cNvPr id="30" name="tag-正常"/>
          <p:cNvSpPr txBox="1"/>
          <p:nvPr/>
        </p:nvSpPr>
        <p:spPr>
          <a:xfrm>
            <a:off x="7772400" y="2743200"/>
            <a:ext cx="566928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2E7D5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5B"/>
                </a:solidFill>
              </a:rPr>
              <a:t>正常</a:t>
            </a:r>
            <a:endParaRPr lang="en-US" sz="1000" dirty="0"/>
          </a:p>
        </p:txBody>
      </p:sp>
      <p:sp>
        <p:nvSpPr>
          <p:cNvPr id="31" name="big-+2"/>
          <p:cNvSpPr txBox="1"/>
          <p:nvPr/>
        </p:nvSpPr>
        <p:spPr>
          <a:xfrm>
            <a:off x="6949440" y="3035808"/>
            <a:ext cx="1554480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2E7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</a:t>
            </a:r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 天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37307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下一节点  设计冻结 09-18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251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</a:rPr>
              <a:t>偏差为相对计划的天数，负数为延期。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1D1F"/>
                </a:solidFill>
              </a:rPr>
              <a:t>时间线与异常</a:t>
            </a:r>
            <a:endParaRPr lang="en-US" sz="2200" dirty="0"/>
          </a:p>
        </p:txBody>
      </p:sp>
      <p:sp>
        <p:nvSpPr>
          <p:cNvPr id="3" name="grid"/>
          <p:cNvSpPr/>
          <p:nvPr/>
        </p:nvSpPr>
        <p:spPr>
          <a:xfrm>
            <a:off x="1188720" y="1261872"/>
            <a:ext cx="0" cy="210312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005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08-24</a:t>
            </a:r>
            <a:endParaRPr lang="en-US" sz="760" dirty="0"/>
          </a:p>
        </p:txBody>
      </p:sp>
      <p:sp>
        <p:nvSpPr>
          <p:cNvPr id="5" name="grid"/>
          <p:cNvSpPr/>
          <p:nvPr/>
        </p:nvSpPr>
        <p:spPr>
          <a:xfrm>
            <a:off x="1784143" y="1261872"/>
            <a:ext cx="0" cy="210312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18383" y="1005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08-31</a:t>
            </a:r>
            <a:endParaRPr lang="en-US" sz="760" dirty="0"/>
          </a:p>
        </p:txBody>
      </p:sp>
      <p:sp>
        <p:nvSpPr>
          <p:cNvPr id="7" name="grid"/>
          <p:cNvSpPr/>
          <p:nvPr/>
        </p:nvSpPr>
        <p:spPr>
          <a:xfrm>
            <a:off x="2379567" y="1261872"/>
            <a:ext cx="0" cy="210312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3807" y="1005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09-07</a:t>
            </a:r>
            <a:endParaRPr lang="en-US" sz="760" dirty="0"/>
          </a:p>
        </p:txBody>
      </p:sp>
      <p:sp>
        <p:nvSpPr>
          <p:cNvPr id="9" name="grid"/>
          <p:cNvSpPr/>
          <p:nvPr/>
        </p:nvSpPr>
        <p:spPr>
          <a:xfrm>
            <a:off x="2974990" y="1261872"/>
            <a:ext cx="0" cy="210312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9230" y="1005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09-14</a:t>
            </a:r>
            <a:endParaRPr lang="en-US" sz="760" dirty="0"/>
          </a:p>
        </p:txBody>
      </p:sp>
      <p:sp>
        <p:nvSpPr>
          <p:cNvPr id="11" name="grid"/>
          <p:cNvSpPr/>
          <p:nvPr/>
        </p:nvSpPr>
        <p:spPr>
          <a:xfrm>
            <a:off x="3570413" y="1261872"/>
            <a:ext cx="0" cy="210312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4653" y="1005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09-21</a:t>
            </a:r>
            <a:endParaRPr lang="en-US" sz="760" dirty="0"/>
          </a:p>
        </p:txBody>
      </p:sp>
      <p:sp>
        <p:nvSpPr>
          <p:cNvPr id="13" name="grid"/>
          <p:cNvSpPr/>
          <p:nvPr/>
        </p:nvSpPr>
        <p:spPr>
          <a:xfrm>
            <a:off x="4165836" y="1261872"/>
            <a:ext cx="0" cy="210312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00076" y="1005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09-28</a:t>
            </a:r>
            <a:endParaRPr lang="en-US" sz="760" dirty="0"/>
          </a:p>
        </p:txBody>
      </p:sp>
      <p:sp>
        <p:nvSpPr>
          <p:cNvPr id="15" name="grid"/>
          <p:cNvSpPr/>
          <p:nvPr/>
        </p:nvSpPr>
        <p:spPr>
          <a:xfrm>
            <a:off x="4846320" y="1261872"/>
            <a:ext cx="0" cy="210312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1005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10-05</a:t>
            </a:r>
            <a:endParaRPr lang="en-US" sz="760" dirty="0"/>
          </a:p>
        </p:txBody>
      </p:sp>
      <p:sp>
        <p:nvSpPr>
          <p:cNvPr id="17" name="today"/>
          <p:cNvSpPr/>
          <p:nvPr/>
        </p:nvSpPr>
        <p:spPr>
          <a:xfrm>
            <a:off x="2634748" y="1207008"/>
            <a:ext cx="0" cy="2194560"/>
          </a:xfrm>
          <a:prstGeom prst="line">
            <a:avLst/>
          </a:prstGeom>
          <a:noFill/>
          <a:ln w="19050">
            <a:solidFill>
              <a:srgbClr val="2F4B7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80468" y="11887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b="1" dirty="0">
                <a:solidFill>
                  <a:srgbClr val="2F4B7C"/>
                </a:solidFill>
              </a:rPr>
              <a:t>今天 09-10</a:t>
            </a:r>
            <a:endParaRPr lang="en-US" sz="76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1481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3" b="1" dirty="0">
                <a:solidFill>
                  <a:srgbClr val="1C1D1F"/>
                </a:solidFill>
              </a:rPr>
              <a:t>M-2308</a:t>
            </a:r>
            <a:endParaRPr lang="en-US" sz="903" dirty="0"/>
          </a:p>
        </p:txBody>
      </p:sp>
      <p:sp>
        <p:nvSpPr>
          <p:cNvPr id="20" name="seg"/>
          <p:cNvSpPr/>
          <p:nvPr/>
        </p:nvSpPr>
        <p:spPr>
          <a:xfrm>
            <a:off x="1188720" y="1572768"/>
            <a:ext cx="935665" cy="0"/>
          </a:xfrm>
          <a:prstGeom prst="line">
            <a:avLst/>
          </a:prstGeom>
          <a:noFill/>
          <a:ln w="44450">
            <a:solidFill>
              <a:srgbClr val="B3261E"/>
            </a:solidFill>
            <a:prstDash val="solid"/>
          </a:ln>
        </p:spPr>
      </p:sp>
      <p:sp>
        <p:nvSpPr>
          <p:cNvPr id="21" name="seg"/>
          <p:cNvSpPr/>
          <p:nvPr/>
        </p:nvSpPr>
        <p:spPr>
          <a:xfrm>
            <a:off x="2124385" y="1572768"/>
            <a:ext cx="510363" cy="0"/>
          </a:xfrm>
          <a:prstGeom prst="line">
            <a:avLst/>
          </a:prstGeom>
          <a:noFill/>
          <a:ln w="44450">
            <a:solidFill>
              <a:srgbClr val="B3261E"/>
            </a:solidFill>
            <a:prstDash val="sysDot"/>
          </a:ln>
        </p:spPr>
      </p:sp>
      <p:sp>
        <p:nvSpPr>
          <p:cNvPr id="22" name="seg"/>
          <p:cNvSpPr/>
          <p:nvPr/>
        </p:nvSpPr>
        <p:spPr>
          <a:xfrm>
            <a:off x="2634748" y="1572768"/>
            <a:ext cx="510363" cy="0"/>
          </a:xfrm>
          <a:prstGeom prst="line">
            <a:avLst/>
          </a:prstGeom>
          <a:noFill/>
          <a:ln w="44450">
            <a:solidFill>
              <a:srgbClr val="E3E5E8"/>
            </a:solidFill>
            <a:prstDash val="solid"/>
          </a:ln>
        </p:spPr>
      </p:sp>
      <p:sp>
        <p:nvSpPr>
          <p:cNvPr id="23" name="node"/>
          <p:cNvSpPr/>
          <p:nvPr/>
        </p:nvSpPr>
        <p:spPr>
          <a:xfrm>
            <a:off x="2069521" y="1517904"/>
            <a:ext cx="109728" cy="109728"/>
          </a:xfrm>
          <a:prstGeom prst="ellipse">
            <a:avLst/>
          </a:prstGeom>
          <a:solidFill>
            <a:srgbClr val="FCFCFB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node"/>
          <p:cNvSpPr/>
          <p:nvPr/>
        </p:nvSpPr>
        <p:spPr>
          <a:xfrm>
            <a:off x="3090247" y="1517904"/>
            <a:ext cx="109728" cy="109728"/>
          </a:xfrm>
          <a:prstGeom prst="ellipse">
            <a:avLst/>
          </a:prstGeom>
          <a:solidFill>
            <a:srgbClr val="FCFCFB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09985" y="16367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B3261E"/>
                </a:solidFill>
              </a:rPr>
              <a:t>计划 09-04 已逾期</a:t>
            </a:r>
            <a:endParaRPr lang="en-US" sz="760" dirty="0"/>
          </a:p>
        </p:txBody>
      </p:sp>
      <p:sp>
        <p:nvSpPr>
          <p:cNvPr id="26" name="Text 24"/>
          <p:cNvSpPr txBox="1"/>
          <p:nvPr/>
        </p:nvSpPr>
        <p:spPr>
          <a:xfrm>
            <a:off x="3236551" y="14813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5B6068"/>
                </a:solidFill>
              </a:rPr>
              <a:t>新 T1 试模 09-16</a:t>
            </a:r>
            <a:endParaRPr lang="en-US" sz="76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19842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3" b="1" dirty="0">
                <a:solidFill>
                  <a:srgbClr val="1C1D1F"/>
                </a:solidFill>
              </a:rPr>
              <a:t>M-2319</a:t>
            </a:r>
            <a:endParaRPr lang="en-US" sz="903" dirty="0"/>
          </a:p>
        </p:txBody>
      </p:sp>
      <p:sp>
        <p:nvSpPr>
          <p:cNvPr id="28" name="seg"/>
          <p:cNvSpPr/>
          <p:nvPr/>
        </p:nvSpPr>
        <p:spPr>
          <a:xfrm>
            <a:off x="1188720" y="2075688"/>
            <a:ext cx="1446028" cy="0"/>
          </a:xfrm>
          <a:prstGeom prst="line">
            <a:avLst/>
          </a:prstGeom>
          <a:noFill/>
          <a:ln w="44450">
            <a:solidFill>
              <a:srgbClr val="B7791F"/>
            </a:solidFill>
            <a:prstDash val="solid"/>
          </a:ln>
        </p:spPr>
      </p:sp>
      <p:sp>
        <p:nvSpPr>
          <p:cNvPr id="29" name="seg"/>
          <p:cNvSpPr/>
          <p:nvPr/>
        </p:nvSpPr>
        <p:spPr>
          <a:xfrm>
            <a:off x="2634748" y="2075688"/>
            <a:ext cx="340242" cy="0"/>
          </a:xfrm>
          <a:prstGeom prst="line">
            <a:avLst/>
          </a:prstGeom>
          <a:noFill/>
          <a:ln w="44450">
            <a:solidFill>
              <a:srgbClr val="E3E5E8"/>
            </a:solidFill>
            <a:prstDash val="solid"/>
          </a:ln>
        </p:spPr>
      </p:sp>
      <p:sp>
        <p:nvSpPr>
          <p:cNvPr id="30" name="node"/>
          <p:cNvSpPr/>
          <p:nvPr/>
        </p:nvSpPr>
        <p:spPr>
          <a:xfrm>
            <a:off x="2920126" y="2020824"/>
            <a:ext cx="109728" cy="109728"/>
          </a:xfrm>
          <a:prstGeom prst="ellipse">
            <a:avLst/>
          </a:prstGeom>
          <a:solidFill>
            <a:srgbClr val="FCFCFB"/>
          </a:solidFill>
          <a:ln w="19050">
            <a:solidFill>
              <a:srgbClr val="B77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6643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5B6068"/>
                </a:solidFill>
              </a:rPr>
              <a:t>钢料到货 09-14</a:t>
            </a:r>
            <a:endParaRPr lang="en-US" sz="76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4871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3" b="1" dirty="0">
                <a:solidFill>
                  <a:srgbClr val="1C1D1F"/>
                </a:solidFill>
              </a:rPr>
              <a:t>M-2311</a:t>
            </a:r>
            <a:endParaRPr lang="en-US" sz="903" dirty="0"/>
          </a:p>
        </p:txBody>
      </p:sp>
      <p:sp>
        <p:nvSpPr>
          <p:cNvPr id="33" name="seg"/>
          <p:cNvSpPr/>
          <p:nvPr/>
        </p:nvSpPr>
        <p:spPr>
          <a:xfrm>
            <a:off x="1188720" y="2578608"/>
            <a:ext cx="1446028" cy="0"/>
          </a:xfrm>
          <a:prstGeom prst="line">
            <a:avLst/>
          </a:prstGeom>
          <a:noFill/>
          <a:ln w="44450">
            <a:solidFill>
              <a:srgbClr val="2E7D5B"/>
            </a:solidFill>
            <a:prstDash val="solid"/>
          </a:ln>
        </p:spPr>
      </p:sp>
      <p:sp>
        <p:nvSpPr>
          <p:cNvPr id="34" name="seg"/>
          <p:cNvSpPr/>
          <p:nvPr/>
        </p:nvSpPr>
        <p:spPr>
          <a:xfrm>
            <a:off x="2634748" y="2578608"/>
            <a:ext cx="1190847" cy="0"/>
          </a:xfrm>
          <a:prstGeom prst="line">
            <a:avLst/>
          </a:prstGeom>
          <a:noFill/>
          <a:ln w="44450">
            <a:solidFill>
              <a:srgbClr val="E3E5E8"/>
            </a:solidFill>
            <a:prstDash val="solid"/>
          </a:ln>
        </p:spPr>
      </p:sp>
      <p:sp>
        <p:nvSpPr>
          <p:cNvPr id="35" name="node"/>
          <p:cNvSpPr/>
          <p:nvPr/>
        </p:nvSpPr>
        <p:spPr>
          <a:xfrm>
            <a:off x="3770730" y="2523744"/>
            <a:ext cx="109728" cy="109728"/>
          </a:xfrm>
          <a:prstGeom prst="ellipse">
            <a:avLst/>
          </a:prstGeom>
          <a:solidFill>
            <a:srgbClr val="FCFCFB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17034" y="24871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5B6068"/>
                </a:solidFill>
              </a:rPr>
              <a:t>T0 试模 09-24</a:t>
            </a:r>
            <a:endParaRPr lang="en-US" sz="76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29900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3" b="1" dirty="0">
                <a:solidFill>
                  <a:srgbClr val="1C1D1F"/>
                </a:solidFill>
              </a:rPr>
              <a:t>M-2315</a:t>
            </a:r>
            <a:endParaRPr lang="en-US" sz="903" dirty="0"/>
          </a:p>
        </p:txBody>
      </p:sp>
      <p:sp>
        <p:nvSpPr>
          <p:cNvPr id="38" name="seg"/>
          <p:cNvSpPr/>
          <p:nvPr/>
        </p:nvSpPr>
        <p:spPr>
          <a:xfrm>
            <a:off x="1188720" y="3081528"/>
            <a:ext cx="1446028" cy="0"/>
          </a:xfrm>
          <a:prstGeom prst="line">
            <a:avLst/>
          </a:prstGeom>
          <a:noFill/>
          <a:ln w="44450">
            <a:solidFill>
              <a:srgbClr val="2E7D5B"/>
            </a:solidFill>
            <a:prstDash val="solid"/>
          </a:ln>
        </p:spPr>
      </p:sp>
      <p:sp>
        <p:nvSpPr>
          <p:cNvPr id="39" name="seg"/>
          <p:cNvSpPr/>
          <p:nvPr/>
        </p:nvSpPr>
        <p:spPr>
          <a:xfrm>
            <a:off x="2634748" y="3081528"/>
            <a:ext cx="680484" cy="0"/>
          </a:xfrm>
          <a:prstGeom prst="line">
            <a:avLst/>
          </a:prstGeom>
          <a:noFill/>
          <a:ln w="44450">
            <a:solidFill>
              <a:srgbClr val="E3E5E8"/>
            </a:solidFill>
            <a:prstDash val="solid"/>
          </a:ln>
        </p:spPr>
      </p:sp>
      <p:sp>
        <p:nvSpPr>
          <p:cNvPr id="40" name="node"/>
          <p:cNvSpPr/>
          <p:nvPr/>
        </p:nvSpPr>
        <p:spPr>
          <a:xfrm>
            <a:off x="3260368" y="3026664"/>
            <a:ext cx="109728" cy="109728"/>
          </a:xfrm>
          <a:prstGeom prst="ellipse">
            <a:avLst/>
          </a:prstGeom>
          <a:solidFill>
            <a:srgbClr val="FCFCFB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406672" y="29900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5B6068"/>
                </a:solidFill>
              </a:rPr>
              <a:t>设计冻结 09-18</a:t>
            </a:r>
            <a:endParaRPr lang="en-US" sz="76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3840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</a:rPr>
              <a:t>实线已完成，浅灰计划中，虚线为逾期拖到今天。</a:t>
            </a:r>
            <a:endParaRPr lang="en-US" sz="900" dirty="0"/>
          </a:p>
        </p:txBody>
      </p:sp>
      <p:sp>
        <p:nvSpPr>
          <p:cNvPr id="43" name="panel-focus"/>
          <p:cNvSpPr/>
          <p:nvPr/>
        </p:nvSpPr>
        <p:spPr>
          <a:xfrm>
            <a:off x="5212080" y="100584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2F4B7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394960" y="1143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D1F"/>
                </a:solidFill>
              </a:rPr>
              <a:t>M-2308</a:t>
            </a:r>
            <a:endParaRPr lang="en-US" sz="1300" dirty="0"/>
          </a:p>
        </p:txBody>
      </p:sp>
      <p:sp>
        <p:nvSpPr>
          <p:cNvPr id="45" name="tag-延期 6 天"/>
          <p:cNvSpPr txBox="1"/>
          <p:nvPr/>
        </p:nvSpPr>
        <p:spPr>
          <a:xfrm>
            <a:off x="6263640" y="1161288"/>
            <a:ext cx="822960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261E"/>
                </a:solidFill>
              </a:rPr>
              <a:t>延期 6 天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394960" y="1463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068"/>
                </a:solidFill>
              </a:rPr>
              <a:t>原因  </a:t>
            </a:r>
            <a:pPr indent="0" marL="0">
              <a:buNone/>
            </a:pPr>
            <a:r>
              <a:rPr lang="en-US" sz="1000" dirty="0">
                <a:solidFill>
                  <a:srgbClr val="1C1D1F"/>
                </a:solidFill>
              </a:rPr>
              <a:t>电极外协厂 09-01 起优先其他客户订单，我方电极排产从 09-02 推到 09-12，型腔 EDM 停工 6 天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394960" y="2194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068"/>
                </a:solidFill>
              </a:rPr>
              <a:t>待谁  </a:t>
            </a:r>
            <a:pPr indent="0" marL="0">
              <a:buNone/>
            </a:pPr>
            <a:r>
              <a:rPr lang="en-US" sz="1000" dirty="0">
                <a:solidFill>
                  <a:srgbClr val="1C1D1F"/>
                </a:solidFill>
              </a:rPr>
              <a:t>采购部确认外协排产；确认不了则模具车间自制电极（+4 天）</a:t>
            </a:r>
            <a:pPr indent="0" marL="0">
              <a:buNone/>
            </a:pPr>
            <a:r>
              <a:rPr lang="en-US" sz="1000" dirty="0">
                <a:solidFill>
                  <a:srgbClr val="5B6068"/>
                </a:solidFill>
              </a:rPr>
              <a:t>　期限 </a:t>
            </a:r>
            <a:pPr indent="0" marL="0">
              <a:buNone/>
            </a:pPr>
            <a:r>
              <a:rPr lang="en-US" sz="1000" b="1" dirty="0">
                <a:solidFill>
                  <a:srgbClr val="1C1D1F"/>
                </a:solidFill>
              </a:rPr>
              <a:t>09-15</a:t>
            </a:r>
            <a:endParaRPr lang="en-US" sz="1000" dirty="0"/>
          </a:p>
        </p:txBody>
      </p:sp>
      <p:sp>
        <p:nvSpPr>
          <p:cNvPr id="48" name="panel"/>
          <p:cNvSpPr/>
          <p:nvPr/>
        </p:nvSpPr>
        <p:spPr>
          <a:xfrm>
            <a:off x="5212080" y="2788920"/>
            <a:ext cx="3474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94960" y="2926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D1F"/>
                </a:solidFill>
              </a:rPr>
              <a:t>M-2319</a:t>
            </a:r>
            <a:endParaRPr lang="en-US" sz="1300" dirty="0"/>
          </a:p>
        </p:txBody>
      </p:sp>
      <p:sp>
        <p:nvSpPr>
          <p:cNvPr id="50" name="tag-风险"/>
          <p:cNvSpPr txBox="1"/>
          <p:nvPr/>
        </p:nvSpPr>
        <p:spPr>
          <a:xfrm>
            <a:off x="6263640" y="2944368"/>
            <a:ext cx="822960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B77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791F"/>
                </a:solidFill>
              </a:rPr>
              <a:t>风险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39496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068"/>
                </a:solidFill>
              </a:rPr>
              <a:t>原因  </a:t>
            </a:r>
            <a:pPr indent="0" marL="0">
              <a:buNone/>
            </a:pPr>
            <a:r>
              <a:rPr lang="en-US" sz="1000" dirty="0">
                <a:solidFill>
                  <a:srgbClr val="1C1D1F"/>
                </a:solidFill>
              </a:rPr>
              <a:t>钢料到货日 09-14，截至 09-10 供应商尚未发出发货通知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5394960" y="3657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068"/>
                </a:solidFill>
              </a:rPr>
              <a:t>待谁  </a:t>
            </a:r>
            <a:pPr indent="0" marL="0">
              <a:buNone/>
            </a:pPr>
            <a:r>
              <a:rPr lang="en-US" sz="1000" dirty="0">
                <a:solidFill>
                  <a:srgbClr val="1C1D1F"/>
                </a:solidFill>
              </a:rPr>
              <a:t>采购部跟催</a:t>
            </a:r>
            <a:pPr indent="0" marL="0">
              <a:buNone/>
            </a:pPr>
            <a:r>
              <a:rPr lang="en-US" sz="1000" dirty="0">
                <a:solidFill>
                  <a:srgbClr val="5B6068"/>
                </a:solidFill>
              </a:rPr>
              <a:t>　期限 </a:t>
            </a:r>
            <a:pPr indent="0" marL="0">
              <a:buNone/>
            </a:pPr>
            <a:r>
              <a:rPr lang="en-US" sz="1000" b="1" dirty="0">
                <a:solidFill>
                  <a:srgbClr val="1C1D1F"/>
                </a:solidFill>
              </a:rPr>
              <a:t>09-11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1D1F"/>
                </a:solidFill>
              </a:rPr>
              <a:t>本期变化（与第 36 周比）</a:t>
            </a:r>
            <a:endParaRPr lang="en-US" sz="22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1463040"/>
                <a:gridCol w="14630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60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60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60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B60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60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M-2308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T1 试模日期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09-04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09-16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326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推迟 12 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M-2311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型腔加工完成率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+25 个百分点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M-2315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设计评审完成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 09-12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 09-10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 2 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M-2319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钢料采购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待到货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待到货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1D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无变化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a-linen">
  <a:themeElements>
    <a:clrScheme name="diva-linen">
      <a:dk1>
        <a:srgbClr val="1C1D1F"/>
      </a:dk1>
      <a:lt1>
        <a:srgbClr val="FCFCFB"/>
      </a:lt1>
      <a:dk2>
        <a:srgbClr val="5B6068"/>
      </a:dk2>
      <a:lt2>
        <a:srgbClr val="FFFFFF"/>
      </a:lt2>
      <a:accent1>
        <a:srgbClr val="2F4B7C"/>
      </a:accent1>
      <a:accent2>
        <a:srgbClr val="2E7D5B"/>
      </a:accent2>
      <a:accent3>
        <a:srgbClr val="B7791F"/>
      </a:accent3>
      <a:accent4>
        <a:srgbClr val="B3261E"/>
      </a:accent4>
      <a:accent5>
        <a:srgbClr val="8A9099"/>
      </a:accent5>
      <a:accent6>
        <a:srgbClr val="E3E5E8"/>
      </a:accent6>
      <a:hlink>
        <a:srgbClr val="2F4B7C"/>
      </a:hlink>
      <a:folHlink>
        <a:srgbClr val="5B6068"/>
      </a:folHlink>
    </a:clrScheme>
    <a:fontScheme name="diva-linen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注塑模具开发周报 · 第 37 周</dc:title>
  <dc:subject>PptxGenJS Presentation</dc:subject>
  <dc:creator>diva-report-skill 示例</dc:creator>
  <cp:lastModifiedBy>diva-report-skill 示例</cp:lastModifiedBy>
  <cp:revision>1</cp:revision>
  <dcterms:created xsi:type="dcterms:W3CDTF">2026-10-08T09:00:18Z</dcterms:created>
  <dcterms:modified xsi:type="dcterms:W3CDTF">2026-10-08T09:00:18Z</dcterms:modified>
</cp:coreProperties>
</file>